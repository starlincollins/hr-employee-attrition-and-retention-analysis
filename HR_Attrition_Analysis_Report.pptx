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1" r:id="rId6"/>
    <p:sldId id="260" r:id="rId7"/>
    <p:sldId id="262" r:id="rId8"/>
    <p:sldId id="263" r:id="rId9"/>
    <p:sldId id="265" r:id="rId10"/>
    <p:sldId id="301" r:id="rId11"/>
    <p:sldId id="266" r:id="rId12"/>
    <p:sldId id="289" r:id="rId13"/>
    <p:sldId id="290" r:id="rId14"/>
    <p:sldId id="291" r:id="rId15"/>
    <p:sldId id="292" r:id="rId16"/>
    <p:sldId id="288" r:id="rId17"/>
    <p:sldId id="264" r:id="rId18"/>
    <p:sldId id="267" r:id="rId19"/>
    <p:sldId id="268" r:id="rId20"/>
    <p:sldId id="269" r:id="rId21"/>
    <p:sldId id="270" r:id="rId22"/>
    <p:sldId id="272" r:id="rId23"/>
    <p:sldId id="273" r:id="rId24"/>
    <p:sldId id="274" r:id="rId25"/>
    <p:sldId id="286" r:id="rId26"/>
    <p:sldId id="287" r:id="rId27"/>
    <p:sldId id="294" r:id="rId28"/>
    <p:sldId id="293" r:id="rId29"/>
    <p:sldId id="295" r:id="rId30"/>
    <p:sldId id="296" r:id="rId31"/>
    <p:sldId id="285" r:id="rId32"/>
    <p:sldId id="297" r:id="rId33"/>
    <p:sldId id="298" r:id="rId34"/>
    <p:sldId id="299" r:id="rId35"/>
    <p:sldId id="300" r:id="rId36"/>
    <p:sldId id="280" r:id="rId37"/>
    <p:sldId id="279" r:id="rId38"/>
    <p:sldId id="281" r:id="rId39"/>
    <p:sldId id="282" r:id="rId40"/>
    <p:sldId id="283" r:id="rId41"/>
    <p:sldId id="284" r:id="rId42"/>
    <p:sldId id="276" r:id="rId43"/>
    <p:sldId id="277" r:id="rId44"/>
    <p:sldId id="278" r:id="rId45"/>
    <p:sldId id="310" r:id="rId46"/>
    <p:sldId id="302" r:id="rId47"/>
    <p:sldId id="303" r:id="rId48"/>
    <p:sldId id="304" r:id="rId49"/>
    <p:sldId id="305" r:id="rId50"/>
    <p:sldId id="306" r:id="rId51"/>
    <p:sldId id="308" r:id="rId52"/>
    <p:sldId id="309" r:id="rId53"/>
    <p:sldId id="307"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10/15/2026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10/15/2026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3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3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4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4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B51369-6812-723C-1B7A-D1BDB3332F65}"/>
              </a:ext>
            </a:extLst>
          </p:cNvPr>
          <p:cNvSpPr txBox="1">
            <a:spLocks/>
          </p:cNvSpPr>
          <p:nvPr/>
        </p:nvSpPr>
        <p:spPr>
          <a:xfrm>
            <a:off x="1386348" y="2993352"/>
            <a:ext cx="3904032" cy="87129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r>
              <a:rPr lang="en-US" sz="3200" b="1" dirty="0">
                <a:solidFill>
                  <a:schemeClr val="accent1">
                    <a:lumMod val="75000"/>
                  </a:schemeClr>
                </a:solidFill>
              </a:rPr>
              <a:t>Business Overview</a:t>
            </a:r>
            <a:endParaRPr lang="en-NG" sz="3200" dirty="0"/>
          </a:p>
        </p:txBody>
      </p:sp>
    </p:spTree>
    <p:extLst>
      <p:ext uri="{BB962C8B-B14F-4D97-AF65-F5344CB8AC3E}">
        <p14:creationId xmlns:p14="http://schemas.microsoft.com/office/powerpoint/2010/main" val="220250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904F2709-80B1-E983-A8AB-EE14E991BF29}"/>
              </a:ext>
            </a:extLst>
          </p:cNvPr>
          <p:cNvSpPr txBox="1">
            <a:spLocks/>
          </p:cNvSpPr>
          <p:nvPr/>
        </p:nvSpPr>
        <p:spPr>
          <a:xfrm>
            <a:off x="426327" y="1867677"/>
            <a:ext cx="11339346" cy="3122646"/>
          </a:xfrm>
          <a:prstGeom prst="rect">
            <a:avLst/>
          </a:prstGeom>
        </p:spPr>
        <p:txBody>
          <a:bodyPr>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342900" indent="-342900" algn="just"/>
            <a:r>
              <a:rPr lang="en-US" sz="1800" cap="none" dirty="0">
                <a:latin typeface="Calibri" panose="020F0502020204030204" pitchFamily="34" charset="0"/>
                <a:ea typeface="Calibri" panose="020F0502020204030204" pitchFamily="34" charset="0"/>
                <a:cs typeface="Calibri" panose="020F0502020204030204" pitchFamily="34" charset="0"/>
              </a:rPr>
              <a:t>Employee turnover is one of the most critical operational and financial challenges facing modern organizations. Beyond the direct costs of recruiting, hiring, and onboarding replacements, excessive attrition drains institutional knowledge, disrupts team dynamics, and lowers overall productivity.</a:t>
            </a:r>
          </a:p>
          <a:p>
            <a:pPr algn="just"/>
            <a:endParaRPr lang="en-US" sz="1800" cap="none" dirty="0">
              <a:latin typeface="Calibri" panose="020F0502020204030204" pitchFamily="34" charset="0"/>
              <a:ea typeface="Calibri" panose="020F0502020204030204" pitchFamily="34" charset="0"/>
              <a:cs typeface="Calibri" panose="020F0502020204030204" pitchFamily="34" charset="0"/>
            </a:endParaRPr>
          </a:p>
          <a:p>
            <a:pPr marL="342900" indent="-342900" algn="just"/>
            <a:r>
              <a:rPr lang="en-US" sz="1800" cap="none" dirty="0">
                <a:latin typeface="Calibri" panose="020F0502020204030204" pitchFamily="34" charset="0"/>
                <a:ea typeface="Calibri" panose="020F0502020204030204" pitchFamily="34" charset="0"/>
                <a:cs typeface="Calibri" panose="020F0502020204030204" pitchFamily="34" charset="0"/>
              </a:rPr>
              <a:t>For this project, the organization faced an underlying high attrition rate across its workforce of 1,470 employees. Rather than relying on guesswork, leadership required a rigorous, data-driven investigation to uncover the root causes of employee departures and identify high-risk segments before turnover occurs.</a:t>
            </a:r>
          </a:p>
          <a:p>
            <a:pPr marL="342900" indent="-342900" algn="just"/>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D71B9DC9-A3E9-72F6-696E-B3099F61377A}"/>
              </a:ext>
            </a:extLst>
          </p:cNvPr>
          <p:cNvSpPr txBox="1">
            <a:spLocks/>
          </p:cNvSpPr>
          <p:nvPr/>
        </p:nvSpPr>
        <p:spPr>
          <a:xfrm>
            <a:off x="1122322" y="648929"/>
            <a:ext cx="3921626" cy="6513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Problem Statement</a:t>
            </a:r>
            <a:endParaRPr lang="en-NG" sz="28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66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DBA7F65-B456-4DD6-BEEB-852CC0784FF0}"/>
              </a:ext>
            </a:extLst>
          </p:cNvPr>
          <p:cNvSpPr txBox="1">
            <a:spLocks noGrp="1"/>
          </p:cNvSpPr>
          <p:nvPr>
            <p:ph type="title"/>
          </p:nvPr>
        </p:nvSpPr>
        <p:spPr>
          <a:xfrm>
            <a:off x="1251284" y="914399"/>
            <a:ext cx="4219074" cy="70660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Project Objectives</a:t>
            </a:r>
            <a:endParaRPr lang="en-NG" sz="28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5" name="Rectangle 1">
            <a:extLst>
              <a:ext uri="{FF2B5EF4-FFF2-40B4-BE49-F238E27FC236}">
                <a16:creationId xmlns:a16="http://schemas.microsoft.com/office/drawing/2014/main" id="{D94B635C-2B64-35FC-6D9D-11F75E2C97E3}"/>
              </a:ext>
            </a:extLst>
          </p:cNvPr>
          <p:cNvSpPr>
            <a:spLocks noGrp="1" noChangeArrowheads="1"/>
          </p:cNvSpPr>
          <p:nvPr>
            <p:ph sz="quarter" idx="13"/>
          </p:nvPr>
        </p:nvSpPr>
        <p:spPr bwMode="auto">
          <a:xfrm>
            <a:off x="710668" y="2076901"/>
            <a:ext cx="10770663" cy="38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15000"/>
              </a:lnSpc>
              <a:spcAft>
                <a:spcPts val="800"/>
              </a:spcAft>
            </a:pP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Identify core attrition drivers: isolate the primary structural, financial, and behavioural factors pushing employees to leave the company.</a:t>
            </a:r>
          </a:p>
          <a:p>
            <a:pPr>
              <a:lnSpc>
                <a:spcPct val="115000"/>
              </a:lnSpc>
              <a:spcAft>
                <a:spcPts val="800"/>
              </a:spcAft>
            </a:pP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Bridge financial metrics and risk: unpack complex financial variables (such as base compensation versus administrative rates) to reveal how salary tiers influence retention.</a:t>
            </a:r>
          </a:p>
          <a:p>
            <a:pPr>
              <a:lnSpc>
                <a:spcPct val="115000"/>
              </a:lnSpc>
              <a:spcAft>
                <a:spcPts val="800"/>
              </a:spcAft>
            </a:pP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Map behavioural and environmental stressors: quantify the impact of daily workplace conditions, including overtime demands, business travel frequency, and commute distances.</a:t>
            </a:r>
          </a:p>
          <a:p>
            <a:pPr>
              <a:lnSpc>
                <a:spcPct val="115000"/>
              </a:lnSpc>
              <a:spcAft>
                <a:spcPts val="800"/>
              </a:spcAft>
            </a:pP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Lay the foundation for predictive modelling: deliver a fully cleansed, transformed, and feature-engineered dataset ready to power phase 5 machine learning classification models.</a:t>
            </a:r>
          </a:p>
          <a:p>
            <a:pPr marL="0" indent="0" algn="just" eaLnBrk="0" fontAlgn="base" hangingPunct="0">
              <a:lnSpc>
                <a:spcPct val="100000"/>
              </a:lnSpc>
              <a:spcBef>
                <a:spcPct val="0"/>
              </a:spcBef>
              <a:spcAft>
                <a:spcPct val="0"/>
              </a:spcAft>
              <a:buClrTx/>
              <a:buNone/>
            </a:pPr>
            <a:endParaRPr kumimoji="0" lang="en-NG" altLang="en-NG" sz="2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82747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691A9F-31C7-8342-81E7-23AFD5326EE6}"/>
              </a:ext>
            </a:extLst>
          </p:cNvPr>
          <p:cNvSpPr>
            <a:spLocks noGrp="1"/>
          </p:cNvSpPr>
          <p:nvPr>
            <p:ph sz="quarter" idx="13"/>
          </p:nvPr>
        </p:nvSpPr>
        <p:spPr>
          <a:xfrm>
            <a:off x="875071" y="1396040"/>
            <a:ext cx="10402842" cy="5388218"/>
          </a:xfrm>
        </p:spPr>
        <p:txBody>
          <a:bodyPr>
            <a:noAutofit/>
          </a:bodyPr>
          <a:lstStyle/>
          <a:p>
            <a:r>
              <a:rPr lang="en-NG" sz="1800" kern="100" cap="none" dirty="0">
                <a:effectLst/>
                <a:latin typeface="Calibri" panose="020F0502020204030204" pitchFamily="34" charset="0"/>
                <a:ea typeface="Calibri" panose="020F0502020204030204" pitchFamily="34" charset="0"/>
                <a:cs typeface="Calibri" panose="020F0502020204030204" pitchFamily="34" charset="0"/>
              </a:rPr>
              <a:t>Utilizing python (pandas, NumPy) alongside advanced visualization suites (seaborn, matplotlib), the project executed a multi-staged exploratory workflow: </a:t>
            </a:r>
            <a:endParaRPr lang="en-US" sz="1800" kern="100" cap="none" dirty="0">
              <a:effectLst/>
              <a:latin typeface="Calibri" panose="020F0502020204030204" pitchFamily="34" charset="0"/>
              <a:ea typeface="Calibri" panose="020F0502020204030204" pitchFamily="34" charset="0"/>
              <a:cs typeface="Calibri" panose="020F0502020204030204" pitchFamily="34" charset="0"/>
            </a:endParaRPr>
          </a:p>
          <a:p>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a:t>
            </a:r>
            <a:r>
              <a:rPr lang="en-US" sz="1800" kern="100" cap="none" dirty="0">
                <a:effectLst/>
                <a:latin typeface="Calibri" panose="020F0502020204030204" pitchFamily="34" charset="0"/>
                <a:ea typeface="Calibri" panose="020F0502020204030204" pitchFamily="34" charset="0"/>
                <a:cs typeface="Calibri" panose="020F0502020204030204" pitchFamily="34" charset="0"/>
              </a:rPr>
              <a:t>D</a:t>
            </a:r>
            <a:r>
              <a:rPr lang="en-US" sz="1800" kern="100" cap="none" dirty="0">
                <a:latin typeface="Calibri" panose="020F0502020204030204" pitchFamily="34" charset="0"/>
                <a:ea typeface="Calibri" panose="020F0502020204030204" pitchFamily="34" charset="0"/>
                <a:cs typeface="Calibri" panose="020F0502020204030204" pitchFamily="34" charset="0"/>
              </a:rPr>
              <a:t>ata</a:t>
            </a: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hygiene and validation: conducted rigorous data validation, stripping out zero-variance columns (such as `standard hours`) and handling skewness in continuous financial distributions.  </a:t>
            </a:r>
            <a:endParaRPr lang="en-US" sz="1800" kern="100" cap="none" dirty="0">
              <a:effectLst/>
              <a:latin typeface="Calibri" panose="020F0502020204030204" pitchFamily="34" charset="0"/>
              <a:ea typeface="Calibri" panose="020F0502020204030204" pitchFamily="34" charset="0"/>
              <a:cs typeface="Calibri" panose="020F0502020204030204" pitchFamily="34" charset="0"/>
            </a:endParaRPr>
          </a:p>
          <a:p>
            <a:r>
              <a:rPr lang="en-NG" sz="1800" kern="100" cap="none" dirty="0">
                <a:effectLst/>
                <a:latin typeface="Calibri" panose="020F0502020204030204" pitchFamily="34" charset="0"/>
                <a:ea typeface="Calibri" panose="020F0502020204030204" pitchFamily="34" charset="0"/>
                <a:cs typeface="Calibri" panose="020F0502020204030204" pitchFamily="34" charset="0"/>
              </a:rPr>
              <a:t>Feature transformation: applied custom salary binning (from entry-level brackets to executive tiers) to correct non-linear skewness and accurately capture financial push/pull dynamics.  </a:t>
            </a:r>
            <a:endParaRPr lang="en-US" sz="1800" kern="100" cap="none" dirty="0">
              <a:effectLst/>
              <a:latin typeface="Calibri" panose="020F0502020204030204" pitchFamily="34" charset="0"/>
              <a:ea typeface="Calibri" panose="020F0502020204030204" pitchFamily="34" charset="0"/>
              <a:cs typeface="Calibri" panose="020F0502020204030204" pitchFamily="34" charset="0"/>
            </a:endParaRPr>
          </a:p>
          <a:p>
            <a:r>
              <a:rPr lang="en-US" sz="1800" kern="100" cap="none" dirty="0">
                <a:effectLst/>
                <a:latin typeface="Calibri" panose="020F0502020204030204" pitchFamily="34" charset="0"/>
                <a:ea typeface="Calibri" panose="020F0502020204030204" pitchFamily="34" charset="0"/>
                <a:cs typeface="Calibri" panose="020F0502020204030204" pitchFamily="34" charset="0"/>
              </a:rPr>
              <a:t>Data </a:t>
            </a: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exploration: </a:t>
            </a:r>
            <a:endParaRPr lang="en-US" sz="1800" kern="100" cap="none" dirty="0">
              <a:effectLst/>
              <a:latin typeface="Calibri" panose="020F0502020204030204" pitchFamily="34" charset="0"/>
              <a:ea typeface="Calibri" panose="020F0502020204030204" pitchFamily="34" charset="0"/>
              <a:cs typeface="Calibri" panose="020F0502020204030204" pitchFamily="34" charset="0"/>
            </a:endParaRPr>
          </a:p>
          <a:p>
            <a:pPr lvl="1"/>
            <a:r>
              <a:rPr lang="en-NG" kern="100" cap="none" dirty="0">
                <a:effectLst/>
                <a:latin typeface="Calibri" panose="020F0502020204030204" pitchFamily="34" charset="0"/>
                <a:ea typeface="Calibri" panose="020F0502020204030204" pitchFamily="34" charset="0"/>
                <a:cs typeface="Calibri" panose="020F0502020204030204" pitchFamily="34" charset="0"/>
              </a:rPr>
              <a:t>Univariate analysis: evaluated class balance, feature distributions, and baseline demographic metrics across the entire workforce.  </a:t>
            </a:r>
            <a:endParaRPr lang="en-US" kern="100" cap="none" dirty="0">
              <a:effectLst/>
              <a:latin typeface="Calibri" panose="020F0502020204030204" pitchFamily="34" charset="0"/>
              <a:ea typeface="Calibri" panose="020F0502020204030204" pitchFamily="34" charset="0"/>
              <a:cs typeface="Calibri" panose="020F0502020204030204" pitchFamily="34" charset="0"/>
            </a:endParaRPr>
          </a:p>
          <a:p>
            <a:pPr lvl="1"/>
            <a:r>
              <a:rPr lang="en-NG" kern="100" cap="none" dirty="0">
                <a:effectLst/>
                <a:latin typeface="Calibri" panose="020F0502020204030204" pitchFamily="34" charset="0"/>
                <a:ea typeface="Calibri" panose="020F0502020204030204" pitchFamily="34" charset="0"/>
                <a:cs typeface="Calibri" panose="020F0502020204030204" pitchFamily="34" charset="0"/>
              </a:rPr>
              <a:t>Bivariate analysis: investigated relationships between individual predictors and target attrition, isolating major push/pull factors like salary tiers, overtime, and travel frequency.  </a:t>
            </a:r>
            <a:endParaRPr lang="en-US" kern="100" cap="none" dirty="0">
              <a:effectLst/>
              <a:latin typeface="Calibri" panose="020F0502020204030204" pitchFamily="34" charset="0"/>
              <a:ea typeface="Calibri" panose="020F0502020204030204" pitchFamily="34" charset="0"/>
              <a:cs typeface="Calibri" panose="020F0502020204030204" pitchFamily="34" charset="0"/>
            </a:endParaRPr>
          </a:p>
          <a:p>
            <a:pPr lvl="1"/>
            <a:r>
              <a:rPr lang="en-NG" kern="100" cap="none" dirty="0">
                <a:effectLst/>
                <a:latin typeface="Calibri" panose="020F0502020204030204" pitchFamily="34" charset="0"/>
                <a:ea typeface="Calibri" panose="020F0502020204030204" pitchFamily="34" charset="0"/>
                <a:cs typeface="Calibri" panose="020F0502020204030204" pitchFamily="34" charset="0"/>
              </a:rPr>
              <a:t>Multivariate analysis: combined correlation matrices, categorical crosstab heatmaps, and binned correlation analyses (handling zero-variance columns and income skewness) to decode how variables interact to affect employee longevity.</a:t>
            </a:r>
          </a:p>
          <a:p>
            <a:endParaRPr lang="en-NG" sz="1800" kern="100" cap="none" dirty="0">
              <a:effectLst/>
              <a:latin typeface="Calibri" panose="020F0502020204030204" pitchFamily="34" charset="0"/>
              <a:ea typeface="Calibri" panose="020F0502020204030204" pitchFamily="34" charset="0"/>
              <a:cs typeface="Calibri" panose="020F0502020204030204" pitchFamily="34" charset="0"/>
            </a:endParaRPr>
          </a:p>
          <a:p>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E602BCF2-0443-FD5C-1999-08D4B52AA1B5}"/>
              </a:ext>
            </a:extLst>
          </p:cNvPr>
          <p:cNvSpPr txBox="1">
            <a:spLocks noGrp="1"/>
          </p:cNvSpPr>
          <p:nvPr>
            <p:ph type="title"/>
          </p:nvPr>
        </p:nvSpPr>
        <p:spPr>
          <a:xfrm>
            <a:off x="1369476" y="619574"/>
            <a:ext cx="7299471" cy="65847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Scope and Analytical Approach</a:t>
            </a:r>
            <a:endParaRPr lang="en-NG" sz="28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24055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89AA46-B131-D0D9-8929-BAB022645C3B}"/>
              </a:ext>
            </a:extLst>
          </p:cNvPr>
          <p:cNvSpPr>
            <a:spLocks noGrp="1"/>
          </p:cNvSpPr>
          <p:nvPr>
            <p:ph sz="quarter" idx="13"/>
          </p:nvPr>
        </p:nvSpPr>
        <p:spPr>
          <a:xfrm>
            <a:off x="913774" y="2367093"/>
            <a:ext cx="10363826" cy="1762455"/>
          </a:xfrm>
        </p:spPr>
        <p:txBody>
          <a:bodyPr>
            <a:normAutofit/>
          </a:bodyPr>
          <a:lstStyle/>
          <a:p>
            <a:pPr marL="0" indent="0">
              <a:buNone/>
            </a:pP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This exploratory analysis bridges the gap between raw human resources data and actionable business strategy. By pinpointing exact risk indicators</a:t>
            </a:r>
            <a:r>
              <a:rPr lang="en-US" sz="1800" kern="100" cap="none" dirty="0">
                <a:effectLst/>
                <a:latin typeface="Calibri" panose="020F0502020204030204" pitchFamily="34" charset="0"/>
                <a:ea typeface="Calibri" panose="020F0502020204030204" pitchFamily="34" charset="0"/>
                <a:cs typeface="Calibri" panose="020F0502020204030204" pitchFamily="34" charset="0"/>
              </a:rPr>
              <a:t> - </a:t>
            </a: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such as entry-level income vulnerability and burnout triggers like mandatory overtime</a:t>
            </a:r>
            <a:r>
              <a:rPr lang="en-US" sz="1800" kern="100" cap="none" dirty="0">
                <a:effectLst/>
                <a:latin typeface="Calibri" panose="020F0502020204030204" pitchFamily="34" charset="0"/>
                <a:ea typeface="Calibri" panose="020F0502020204030204" pitchFamily="34" charset="0"/>
                <a:cs typeface="Calibri" panose="020F0502020204030204" pitchFamily="34" charset="0"/>
              </a:rPr>
              <a:t>-</a:t>
            </a: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this project provides leadership with the diagnostic clarity needed to transition from reactive troubleshooting to proactive retention planning.</a:t>
            </a:r>
          </a:p>
        </p:txBody>
      </p:sp>
      <p:sp>
        <p:nvSpPr>
          <p:cNvPr id="4" name="Title 1">
            <a:extLst>
              <a:ext uri="{FF2B5EF4-FFF2-40B4-BE49-F238E27FC236}">
                <a16:creationId xmlns:a16="http://schemas.microsoft.com/office/drawing/2014/main" id="{30083291-BAF5-D93D-9BDF-C67A62562F40}"/>
              </a:ext>
            </a:extLst>
          </p:cNvPr>
          <p:cNvSpPr txBox="1">
            <a:spLocks noGrp="1"/>
          </p:cNvSpPr>
          <p:nvPr>
            <p:ph type="title"/>
          </p:nvPr>
        </p:nvSpPr>
        <p:spPr>
          <a:xfrm>
            <a:off x="1180906" y="835741"/>
            <a:ext cx="5328049" cy="64050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Strategic Value and Impact</a:t>
            </a:r>
            <a:endParaRPr lang="en-NG" sz="28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80707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6A80051-672C-5896-C620-39C0BA9E18BB}"/>
              </a:ext>
            </a:extLst>
          </p:cNvPr>
          <p:cNvSpPr txBox="1">
            <a:spLocks/>
          </p:cNvSpPr>
          <p:nvPr/>
        </p:nvSpPr>
        <p:spPr>
          <a:xfrm>
            <a:off x="1054585" y="3019550"/>
            <a:ext cx="6721642" cy="8189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3200" b="1" cap="none"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Data Understanding</a:t>
            </a:r>
            <a:endParaRPr lang="en-NG" sz="32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08388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4D77FF-CA1C-1174-EC27-00D8AB067EF3}"/>
              </a:ext>
            </a:extLst>
          </p:cNvPr>
          <p:cNvSpPr>
            <a:spLocks noGrp="1"/>
          </p:cNvSpPr>
          <p:nvPr>
            <p:ph sz="quarter" idx="13"/>
          </p:nvPr>
        </p:nvSpPr>
        <p:spPr>
          <a:xfrm>
            <a:off x="914087" y="1716946"/>
            <a:ext cx="10267260" cy="4893153"/>
          </a:xfrm>
        </p:spPr>
        <p:txBody>
          <a:bodyPr>
            <a:norm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p>
          <a:p>
            <a:r>
              <a:rPr lang="en-US" sz="1800" b="0" i="0" cap="none" dirty="0">
                <a:effectLst/>
                <a:latin typeface="Calibri" panose="020F0502020204030204" pitchFamily="34" charset="0"/>
                <a:ea typeface="Calibri" panose="020F0502020204030204" pitchFamily="34" charset="0"/>
                <a:cs typeface="Calibri" panose="020F0502020204030204" pitchFamily="34" charset="0"/>
              </a:rPr>
              <a:t>Data appeared to be in a tab separated format and was properly formatted</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Some the columns data types are incorrect</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There are no missing values</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There are 1470 entries/captured employees</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The dataset has 35 columns</a:t>
            </a:r>
          </a:p>
          <a:p>
            <a:r>
              <a:rPr lang="en-US" sz="1800" b="0" i="0" cap="none" dirty="0">
                <a:effectLst/>
                <a:latin typeface="Calibri" panose="020F0502020204030204" pitchFamily="34" charset="0"/>
                <a:ea typeface="Calibri" panose="020F0502020204030204" pitchFamily="34" charset="0"/>
                <a:cs typeface="Calibri" panose="020F0502020204030204" pitchFamily="34" charset="0"/>
              </a:rPr>
              <a:t>After correcting the datatypes, there were still no missing values.</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Some columns that would not be required were filtered out</a:t>
            </a:r>
          </a:p>
          <a:p>
            <a:pPr algn="l">
              <a:buFont typeface="Arial" panose="020B0604020202020204" pitchFamily="34" charset="0"/>
              <a:buChar char="•"/>
            </a:pPr>
            <a:r>
              <a:rPr lang="en-US" sz="1800" cap="none" dirty="0">
                <a:latin typeface="Calibri" panose="020F0502020204030204" pitchFamily="34" charset="0"/>
                <a:ea typeface="Calibri" panose="020F0502020204030204" pitchFamily="34" charset="0"/>
                <a:cs typeface="Calibri" panose="020F0502020204030204" pitchFamily="34" charset="0"/>
              </a:rPr>
              <a:t>Some features like monthly income, distance from home, age, etc. were categorized for analysis</a:t>
            </a:r>
          </a:p>
          <a:p>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E75AAC4B-5D20-CA13-5D24-DAA87E78B908}"/>
              </a:ext>
            </a:extLst>
          </p:cNvPr>
          <p:cNvSpPr txBox="1">
            <a:spLocks/>
          </p:cNvSpPr>
          <p:nvPr/>
        </p:nvSpPr>
        <p:spPr>
          <a:xfrm>
            <a:off x="1250249" y="776748"/>
            <a:ext cx="4472124" cy="55552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Data Cleaning/Preparation</a:t>
            </a:r>
            <a:endParaRPr lang="en-NG" sz="28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56543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0BC5C9-9080-A546-D199-E8A3B22F35E7}"/>
              </a:ext>
            </a:extLst>
          </p:cNvPr>
          <p:cNvSpPr>
            <a:spLocks noGrp="1"/>
          </p:cNvSpPr>
          <p:nvPr>
            <p:ph sz="quarter" idx="13"/>
          </p:nvPr>
        </p:nvSpPr>
        <p:spPr>
          <a:xfrm>
            <a:off x="559812" y="2032796"/>
            <a:ext cx="3995110" cy="2598198"/>
          </a:xfrm>
        </p:spPr>
        <p:txBody>
          <a:bodyPr>
            <a:normAutofit lnSpcReduction="10000"/>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b="0" i="0" cap="none" dirty="0">
              <a:effectLst/>
              <a:latin typeface="Calibri" panose="020F0502020204030204" pitchFamily="34" charset="0"/>
              <a:ea typeface="Calibri" panose="020F0502020204030204" pitchFamily="34" charset="0"/>
              <a:cs typeface="Calibri" panose="020F0502020204030204" pitchFamily="34" charset="0"/>
            </a:endParaRPr>
          </a:p>
          <a:p>
            <a:r>
              <a:rPr lang="en-US" sz="1800" b="0" i="0" cap="none" dirty="0">
                <a:effectLst/>
                <a:latin typeface="Calibri" panose="020F0502020204030204" pitchFamily="34" charset="0"/>
                <a:ea typeface="Calibri" panose="020F0502020204030204" pitchFamily="34" charset="0"/>
                <a:cs typeface="Calibri" panose="020F0502020204030204" pitchFamily="34" charset="0"/>
              </a:rPr>
              <a:t>237 total employees out of </a:t>
            </a:r>
            <a:r>
              <a:rPr lang="en-US" sz="1800" cap="none" dirty="0">
                <a:latin typeface="Calibri" panose="020F0502020204030204" pitchFamily="34" charset="0"/>
                <a:ea typeface="Calibri" panose="020F0502020204030204" pitchFamily="34" charset="0"/>
                <a:cs typeface="Calibri" panose="020F0502020204030204" pitchFamily="34" charset="0"/>
              </a:rPr>
              <a:t>1,470</a:t>
            </a:r>
            <a:r>
              <a:rPr lang="en-US" sz="1800" b="0" i="0" cap="none" dirty="0">
                <a:effectLst/>
                <a:latin typeface="Calibri" panose="020F0502020204030204" pitchFamily="34" charset="0"/>
                <a:ea typeface="Calibri" panose="020F0502020204030204" pitchFamily="34" charset="0"/>
                <a:cs typeface="Calibri" panose="020F0502020204030204" pitchFamily="34" charset="0"/>
              </a:rPr>
              <a:t> employees have departed the company</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Accounting for attrition rate of 16.12%</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At a ratio of 5:1; for every 5 employee, one has exited</a:t>
            </a:r>
          </a:p>
          <a:p>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9BCA535D-4B05-8BEA-2926-A54CF9E2C1AB}"/>
              </a:ext>
            </a:extLst>
          </p:cNvPr>
          <p:cNvSpPr txBox="1">
            <a:spLocks noGrp="1"/>
          </p:cNvSpPr>
          <p:nvPr>
            <p:ph type="title"/>
          </p:nvPr>
        </p:nvSpPr>
        <p:spPr>
          <a:xfrm>
            <a:off x="914400" y="737419"/>
            <a:ext cx="3067665" cy="61011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Target Variable</a:t>
            </a:r>
            <a:endParaRPr lang="en-NG" sz="28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14026D26-1AF5-302D-36BB-24510ACE5BBC}"/>
              </a:ext>
            </a:extLst>
          </p:cNvPr>
          <p:cNvPicPr>
            <a:picLocks noChangeAspect="1"/>
          </p:cNvPicPr>
          <p:nvPr/>
        </p:nvPicPr>
        <p:blipFill>
          <a:blip r:embed="rId2"/>
          <a:stretch>
            <a:fillRect/>
          </a:stretch>
        </p:blipFill>
        <p:spPr>
          <a:xfrm>
            <a:off x="5262986" y="983330"/>
            <a:ext cx="6369202" cy="4739043"/>
          </a:xfrm>
          <a:prstGeom prst="rect">
            <a:avLst/>
          </a:prstGeom>
        </p:spPr>
      </p:pic>
    </p:spTree>
    <p:extLst>
      <p:ext uri="{BB962C8B-B14F-4D97-AF65-F5344CB8AC3E}">
        <p14:creationId xmlns:p14="http://schemas.microsoft.com/office/powerpoint/2010/main" val="2862506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907C3C6-D55F-A253-9DF9-A259E9A15969}"/>
              </a:ext>
            </a:extLst>
          </p:cNvPr>
          <p:cNvSpPr>
            <a:spLocks noGrp="1"/>
          </p:cNvSpPr>
          <p:nvPr>
            <p:ph sz="quarter" idx="13"/>
          </p:nvPr>
        </p:nvSpPr>
        <p:spPr>
          <a:xfrm>
            <a:off x="82337" y="1841089"/>
            <a:ext cx="7038170" cy="4739149"/>
          </a:xfrm>
        </p:spPr>
        <p:txBody>
          <a:bodyPr>
            <a:normAutofit lnSpcReduction="10000"/>
          </a:bodyPr>
          <a:lstStyle/>
          <a:p>
            <a:pPr marL="0" indent="0" algn="l">
              <a:buNone/>
            </a:pPr>
            <a:r>
              <a:rPr lang="en-US" sz="1800" b="1" i="0" cap="none" dirty="0">
                <a:effectLst/>
                <a:latin typeface="Calibri" panose="020F0502020204030204" pitchFamily="34" charset="0"/>
                <a:ea typeface="Calibri" panose="020F0502020204030204" pitchFamily="34" charset="0"/>
                <a:cs typeface="Calibri" panose="020F0502020204030204" pitchFamily="34" charset="0"/>
              </a:rPr>
              <a:t>Initial insights:</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Average age of employees is 37, with 75% of employees below 44 years, and the minimum age is 18 years</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Max years of year since last promotion is 15 years</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Longest tenure at the company is 40 years, while the longest an employee has been in a particular role is 18 years</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Average daily rate is ~802.49 and standard work hours at 80 hrs.</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Average monthly income is ~6,502.93$, and only 25% of the workforce earns above 8,379</a:t>
            </a:r>
            <a:r>
              <a:rPr lang="en-US" sz="1800" cap="none" dirty="0">
                <a:latin typeface="Calibri" panose="020F0502020204030204" pitchFamily="34" charset="0"/>
                <a:ea typeface="Calibri" panose="020F0502020204030204" pitchFamily="34" charset="0"/>
                <a:cs typeface="Calibri" panose="020F0502020204030204" pitchFamily="34" charset="0"/>
              </a:rPr>
              <a:t>$</a:t>
            </a:r>
            <a:r>
              <a:rPr lang="en-US" sz="1800" b="0" i="0" cap="none" dirty="0">
                <a:effectLst/>
                <a:latin typeface="Calibri" panose="020F0502020204030204" pitchFamily="34" charset="0"/>
                <a:ea typeface="Calibri" panose="020F0502020204030204" pitchFamily="34" charset="0"/>
                <a:cs typeface="Calibri" panose="020F0502020204030204" pitchFamily="34" charset="0"/>
              </a:rPr>
              <a:t>, while more than 50% earns below 5,000$ which is above the companies average</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75% of employees are mid to low level, and 25% put in below-average effort in their jobs and are dissatisfied.</a:t>
            </a:r>
          </a:p>
        </p:txBody>
      </p:sp>
      <p:sp>
        <p:nvSpPr>
          <p:cNvPr id="5" name="Title 1">
            <a:extLst>
              <a:ext uri="{FF2B5EF4-FFF2-40B4-BE49-F238E27FC236}">
                <a16:creationId xmlns:a16="http://schemas.microsoft.com/office/drawing/2014/main" id="{C33D562E-81F8-BFFD-6AB1-6D5773841F23}"/>
              </a:ext>
            </a:extLst>
          </p:cNvPr>
          <p:cNvSpPr txBox="1">
            <a:spLocks noGrp="1"/>
          </p:cNvSpPr>
          <p:nvPr>
            <p:ph type="title"/>
          </p:nvPr>
        </p:nvSpPr>
        <p:spPr>
          <a:xfrm>
            <a:off x="963073" y="612746"/>
            <a:ext cx="3913727" cy="59593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Initial Data Intuition</a:t>
            </a:r>
            <a:endParaRPr lang="en-NG" sz="28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0AA56F4B-E95A-A526-9B8B-F211F3932DB9}"/>
              </a:ext>
            </a:extLst>
          </p:cNvPr>
          <p:cNvPicPr>
            <a:picLocks noChangeAspect="1"/>
          </p:cNvPicPr>
          <p:nvPr/>
        </p:nvPicPr>
        <p:blipFill>
          <a:blip r:embed="rId2"/>
          <a:stretch>
            <a:fillRect/>
          </a:stretch>
        </p:blipFill>
        <p:spPr>
          <a:xfrm>
            <a:off x="7120507" y="277761"/>
            <a:ext cx="4989156" cy="6302477"/>
          </a:xfrm>
          <a:prstGeom prst="rect">
            <a:avLst/>
          </a:prstGeom>
        </p:spPr>
      </p:pic>
    </p:spTree>
    <p:extLst>
      <p:ext uri="{BB962C8B-B14F-4D97-AF65-F5344CB8AC3E}">
        <p14:creationId xmlns:p14="http://schemas.microsoft.com/office/powerpoint/2010/main" val="3147029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7733A-9B29-D46C-519C-BB1AB1A8E5CF}"/>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88D85A7-FA0C-0A88-4298-A8FBBCE3CA2C}"/>
              </a:ext>
            </a:extLst>
          </p:cNvPr>
          <p:cNvSpPr>
            <a:spLocks noGrp="1"/>
          </p:cNvSpPr>
          <p:nvPr>
            <p:ph sz="quarter" idx="13"/>
          </p:nvPr>
        </p:nvSpPr>
        <p:spPr>
          <a:xfrm>
            <a:off x="7358" y="1600199"/>
            <a:ext cx="7038170" cy="5257801"/>
          </a:xfrm>
        </p:spPr>
        <p:txBody>
          <a:bodyPr>
            <a:noAutofit/>
          </a:bodyPr>
          <a:lstStyle/>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Also, 75% of the workforce are university graduates and above</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Work relationship/work-life balance/environment is almost average in satisfaction</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Average years spent under a current manager is 4 years, with a maximum of 17 years, while 50% of the workforce has spent not more than 5 years under their current managers.</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In a total of 6 trainings hosted, only 25% of the workforce managed to attend more than 3 of these trainings.</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Half of the workforce covers 7km(30 minutes drive) to get to the office, while 25% cover more than 14km(1hr drive) to get to work</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Overall performance ratings of employees are slightly above average</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Only 25% of the workforce enjoys standard/entry option tier equity/stock option, while half are zero.</a:t>
            </a:r>
          </a:p>
        </p:txBody>
      </p:sp>
      <p:pic>
        <p:nvPicPr>
          <p:cNvPr id="9" name="Picture 8">
            <a:extLst>
              <a:ext uri="{FF2B5EF4-FFF2-40B4-BE49-F238E27FC236}">
                <a16:creationId xmlns:a16="http://schemas.microsoft.com/office/drawing/2014/main" id="{3ED86043-9379-CE4D-0EC1-15B261928C18}"/>
              </a:ext>
            </a:extLst>
          </p:cNvPr>
          <p:cNvPicPr>
            <a:picLocks noChangeAspect="1"/>
          </p:cNvPicPr>
          <p:nvPr/>
        </p:nvPicPr>
        <p:blipFill>
          <a:blip r:embed="rId2"/>
          <a:stretch>
            <a:fillRect/>
          </a:stretch>
        </p:blipFill>
        <p:spPr>
          <a:xfrm>
            <a:off x="7045528" y="277761"/>
            <a:ext cx="4989156" cy="6302477"/>
          </a:xfrm>
          <a:prstGeom prst="rect">
            <a:avLst/>
          </a:prstGeom>
        </p:spPr>
      </p:pic>
    </p:spTree>
    <p:extLst>
      <p:ext uri="{BB962C8B-B14F-4D97-AF65-F5344CB8AC3E}">
        <p14:creationId xmlns:p14="http://schemas.microsoft.com/office/powerpoint/2010/main" val="3776118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80D9506-C257-E57A-3EC0-1FDCA56F68E1}"/>
              </a:ext>
            </a:extLst>
          </p:cNvPr>
          <p:cNvSpPr txBox="1">
            <a:spLocks noGrp="1"/>
          </p:cNvSpPr>
          <p:nvPr>
            <p:ph type="title"/>
          </p:nvPr>
        </p:nvSpPr>
        <p:spPr>
          <a:xfrm>
            <a:off x="609600" y="3429000"/>
            <a:ext cx="5004620" cy="61958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3200" b="1" cap="none"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Univariate Analysis</a:t>
            </a:r>
            <a:endParaRPr lang="en-NG" sz="32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15081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8345D6-A729-4FB1-D478-1A730CADBA0A}"/>
              </a:ext>
            </a:extLst>
          </p:cNvPr>
          <p:cNvSpPr>
            <a:spLocks noGrp="1"/>
          </p:cNvSpPr>
          <p:nvPr>
            <p:ph sz="quarter" idx="13"/>
          </p:nvPr>
        </p:nvSpPr>
        <p:spPr>
          <a:xfrm>
            <a:off x="196646" y="1816485"/>
            <a:ext cx="2731856" cy="4662973"/>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p>
          <a:p>
            <a:r>
              <a:rPr lang="en-US" sz="1800" cap="none" dirty="0">
                <a:latin typeface="Calibri" panose="020F0502020204030204" pitchFamily="34" charset="0"/>
                <a:ea typeface="Calibri" panose="020F0502020204030204" pitchFamily="34" charset="0"/>
                <a:cs typeface="Calibri" panose="020F0502020204030204" pitchFamily="34" charset="0"/>
              </a:rPr>
              <a:t>About 69% of the staffs are rarely travels</a:t>
            </a:r>
          </a:p>
          <a:p>
            <a:r>
              <a:rPr lang="en-US" sz="1800" cap="none" dirty="0">
                <a:latin typeface="Calibri" panose="020F0502020204030204" pitchFamily="34" charset="0"/>
                <a:ea typeface="Calibri" panose="020F0502020204030204" pitchFamily="34" charset="0"/>
                <a:cs typeface="Calibri" panose="020F0502020204030204" pitchFamily="34" charset="0"/>
              </a:rPr>
              <a:t>Research and development is the largest department</a:t>
            </a:r>
          </a:p>
          <a:p>
            <a:r>
              <a:rPr lang="en-US" sz="1800" cap="none" dirty="0">
                <a:latin typeface="Calibri" panose="020F0502020204030204" pitchFamily="34" charset="0"/>
                <a:ea typeface="Calibri" panose="020F0502020204030204" pitchFamily="34" charset="0"/>
                <a:cs typeface="Calibri" panose="020F0502020204030204" pitchFamily="34" charset="0"/>
              </a:rPr>
              <a:t>More than half of the staffs have education level 3 and 4</a:t>
            </a:r>
          </a:p>
          <a:p>
            <a:r>
              <a:rPr lang="en-US" sz="1800" cap="none" dirty="0">
                <a:latin typeface="Calibri" panose="020F0502020204030204" pitchFamily="34" charset="0"/>
                <a:ea typeface="Calibri" panose="020F0502020204030204" pitchFamily="34" charset="0"/>
                <a:cs typeface="Calibri" panose="020F0502020204030204" pitchFamily="34" charset="0"/>
              </a:rPr>
              <a:t>Most of them are with life sciences and medical certificates</a:t>
            </a:r>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DCEE661-D76E-0169-4B62-F435F138B839}"/>
              </a:ext>
            </a:extLst>
          </p:cNvPr>
          <p:cNvPicPr>
            <a:picLocks noChangeAspect="1"/>
          </p:cNvPicPr>
          <p:nvPr/>
        </p:nvPicPr>
        <p:blipFill>
          <a:blip r:embed="rId2"/>
          <a:stretch>
            <a:fillRect/>
          </a:stretch>
        </p:blipFill>
        <p:spPr>
          <a:xfrm>
            <a:off x="7742496" y="801407"/>
            <a:ext cx="4449504" cy="2567776"/>
          </a:xfrm>
          <a:prstGeom prst="rect">
            <a:avLst/>
          </a:prstGeom>
        </p:spPr>
      </p:pic>
      <p:pic>
        <p:nvPicPr>
          <p:cNvPr id="7" name="Picture 6">
            <a:extLst>
              <a:ext uri="{FF2B5EF4-FFF2-40B4-BE49-F238E27FC236}">
                <a16:creationId xmlns:a16="http://schemas.microsoft.com/office/drawing/2014/main" id="{20210976-744D-8255-E8FD-42CE554E9C75}"/>
              </a:ext>
            </a:extLst>
          </p:cNvPr>
          <p:cNvPicPr>
            <a:picLocks noChangeAspect="1"/>
          </p:cNvPicPr>
          <p:nvPr/>
        </p:nvPicPr>
        <p:blipFill>
          <a:blip r:embed="rId3"/>
          <a:stretch>
            <a:fillRect/>
          </a:stretch>
        </p:blipFill>
        <p:spPr>
          <a:xfrm>
            <a:off x="7742496" y="4219845"/>
            <a:ext cx="4368671" cy="2559860"/>
          </a:xfrm>
          <a:prstGeom prst="rect">
            <a:avLst/>
          </a:prstGeom>
        </p:spPr>
      </p:pic>
      <p:pic>
        <p:nvPicPr>
          <p:cNvPr id="9" name="Picture 8">
            <a:extLst>
              <a:ext uri="{FF2B5EF4-FFF2-40B4-BE49-F238E27FC236}">
                <a16:creationId xmlns:a16="http://schemas.microsoft.com/office/drawing/2014/main" id="{7877B0AB-A6D2-287D-695B-0A4B742A0071}"/>
              </a:ext>
            </a:extLst>
          </p:cNvPr>
          <p:cNvPicPr>
            <a:picLocks noChangeAspect="1"/>
          </p:cNvPicPr>
          <p:nvPr/>
        </p:nvPicPr>
        <p:blipFill>
          <a:blip r:embed="rId4"/>
          <a:stretch>
            <a:fillRect/>
          </a:stretch>
        </p:blipFill>
        <p:spPr>
          <a:xfrm>
            <a:off x="3503913" y="1299152"/>
            <a:ext cx="4132066" cy="2446816"/>
          </a:xfrm>
          <a:prstGeom prst="rect">
            <a:avLst/>
          </a:prstGeom>
        </p:spPr>
      </p:pic>
      <p:pic>
        <p:nvPicPr>
          <p:cNvPr id="11" name="Picture 10">
            <a:extLst>
              <a:ext uri="{FF2B5EF4-FFF2-40B4-BE49-F238E27FC236}">
                <a16:creationId xmlns:a16="http://schemas.microsoft.com/office/drawing/2014/main" id="{A340DFCE-AA81-10BC-0ED0-F48463754398}"/>
              </a:ext>
            </a:extLst>
          </p:cNvPr>
          <p:cNvPicPr>
            <a:picLocks noChangeAspect="1"/>
          </p:cNvPicPr>
          <p:nvPr/>
        </p:nvPicPr>
        <p:blipFill>
          <a:blip r:embed="rId5"/>
          <a:stretch>
            <a:fillRect/>
          </a:stretch>
        </p:blipFill>
        <p:spPr>
          <a:xfrm>
            <a:off x="3035019" y="4219845"/>
            <a:ext cx="4591128" cy="2638155"/>
          </a:xfrm>
          <a:prstGeom prst="rect">
            <a:avLst/>
          </a:prstGeom>
        </p:spPr>
      </p:pic>
    </p:spTree>
    <p:extLst>
      <p:ext uri="{BB962C8B-B14F-4D97-AF65-F5344CB8AC3E}">
        <p14:creationId xmlns:p14="http://schemas.microsoft.com/office/powerpoint/2010/main" val="4206204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F83698-2B5A-103A-9DEB-8F1FD4991BEC}"/>
              </a:ext>
            </a:extLst>
          </p:cNvPr>
          <p:cNvSpPr>
            <a:spLocks noGrp="1"/>
          </p:cNvSpPr>
          <p:nvPr>
            <p:ph sz="quarter" idx="13"/>
          </p:nvPr>
        </p:nvSpPr>
        <p:spPr>
          <a:xfrm>
            <a:off x="104888" y="1647535"/>
            <a:ext cx="2409529" cy="4763097"/>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cap="none" dirty="0">
              <a:latin typeface="Calibri" panose="020F0502020204030204" pitchFamily="34" charset="0"/>
              <a:ea typeface="Calibri" panose="020F0502020204030204" pitchFamily="34" charset="0"/>
              <a:cs typeface="Calibri" panose="020F0502020204030204" pitchFamily="34" charset="0"/>
            </a:endParaRPr>
          </a:p>
          <a:p>
            <a:r>
              <a:rPr lang="en-US" sz="1800" cap="none" dirty="0">
                <a:latin typeface="Calibri" panose="020F0502020204030204" pitchFamily="34" charset="0"/>
                <a:ea typeface="Calibri" panose="020F0502020204030204" pitchFamily="34" charset="0"/>
                <a:cs typeface="Calibri" panose="020F0502020204030204" pitchFamily="34" charset="0"/>
              </a:rPr>
              <a:t>More than half of the staff are satisfied with the working environment</a:t>
            </a:r>
          </a:p>
          <a:p>
            <a:r>
              <a:rPr lang="en-US" sz="1800" cap="none" dirty="0">
                <a:latin typeface="Calibri" panose="020F0502020204030204" pitchFamily="34" charset="0"/>
                <a:ea typeface="Calibri" panose="020F0502020204030204" pitchFamily="34" charset="0"/>
                <a:cs typeface="Calibri" panose="020F0502020204030204" pitchFamily="34" charset="0"/>
              </a:rPr>
              <a:t>About 60% are men</a:t>
            </a:r>
          </a:p>
          <a:p>
            <a:r>
              <a:rPr lang="en-US" sz="1800" cap="none" dirty="0">
                <a:latin typeface="Calibri" panose="020F0502020204030204" pitchFamily="34" charset="0"/>
                <a:ea typeface="Calibri" panose="020F0502020204030204" pitchFamily="34" charset="0"/>
                <a:cs typeface="Calibri" panose="020F0502020204030204" pitchFamily="34" charset="0"/>
              </a:rPr>
              <a:t>More than 75% of the staff earn low –medium salary</a:t>
            </a:r>
          </a:p>
          <a:p>
            <a:r>
              <a:rPr lang="en-US" sz="1800" cap="none" dirty="0">
                <a:latin typeface="Calibri" panose="020F0502020204030204" pitchFamily="34" charset="0"/>
                <a:ea typeface="Calibri" panose="020F0502020204030204" pitchFamily="34" charset="0"/>
                <a:cs typeface="Calibri" panose="020F0502020204030204" pitchFamily="34" charset="0"/>
              </a:rPr>
              <a:t>About 75% of them are living very close to the company</a:t>
            </a:r>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94FCC801-194B-C9B4-5D20-FDC26606CC49}"/>
              </a:ext>
            </a:extLst>
          </p:cNvPr>
          <p:cNvPicPr>
            <a:picLocks noChangeAspect="1"/>
          </p:cNvPicPr>
          <p:nvPr/>
        </p:nvPicPr>
        <p:blipFill>
          <a:blip r:embed="rId2"/>
          <a:stretch>
            <a:fillRect/>
          </a:stretch>
        </p:blipFill>
        <p:spPr>
          <a:xfrm>
            <a:off x="7325031" y="123104"/>
            <a:ext cx="4762081" cy="2748328"/>
          </a:xfrm>
          <a:prstGeom prst="rect">
            <a:avLst/>
          </a:prstGeom>
        </p:spPr>
      </p:pic>
      <p:pic>
        <p:nvPicPr>
          <p:cNvPr id="13" name="Picture 12">
            <a:extLst>
              <a:ext uri="{FF2B5EF4-FFF2-40B4-BE49-F238E27FC236}">
                <a16:creationId xmlns:a16="http://schemas.microsoft.com/office/drawing/2014/main" id="{C0EDAAF9-F193-0C04-503F-EAB5167C9F37}"/>
              </a:ext>
            </a:extLst>
          </p:cNvPr>
          <p:cNvPicPr>
            <a:picLocks noChangeAspect="1"/>
          </p:cNvPicPr>
          <p:nvPr/>
        </p:nvPicPr>
        <p:blipFill>
          <a:blip r:embed="rId3"/>
          <a:stretch>
            <a:fillRect/>
          </a:stretch>
        </p:blipFill>
        <p:spPr>
          <a:xfrm>
            <a:off x="2613089" y="263164"/>
            <a:ext cx="4711942" cy="2768742"/>
          </a:xfrm>
          <a:prstGeom prst="rect">
            <a:avLst/>
          </a:prstGeom>
        </p:spPr>
      </p:pic>
      <p:pic>
        <p:nvPicPr>
          <p:cNvPr id="15" name="Picture 14">
            <a:extLst>
              <a:ext uri="{FF2B5EF4-FFF2-40B4-BE49-F238E27FC236}">
                <a16:creationId xmlns:a16="http://schemas.microsoft.com/office/drawing/2014/main" id="{E108D330-9AC9-EBF1-095E-CF2A0978B936}"/>
              </a:ext>
            </a:extLst>
          </p:cNvPr>
          <p:cNvPicPr>
            <a:picLocks noChangeAspect="1"/>
          </p:cNvPicPr>
          <p:nvPr/>
        </p:nvPicPr>
        <p:blipFill>
          <a:blip r:embed="rId4"/>
          <a:stretch>
            <a:fillRect/>
          </a:stretch>
        </p:blipFill>
        <p:spPr>
          <a:xfrm>
            <a:off x="2676692" y="3447463"/>
            <a:ext cx="4692891" cy="2768742"/>
          </a:xfrm>
          <a:prstGeom prst="rect">
            <a:avLst/>
          </a:prstGeom>
        </p:spPr>
      </p:pic>
      <p:pic>
        <p:nvPicPr>
          <p:cNvPr id="17" name="Picture 16">
            <a:extLst>
              <a:ext uri="{FF2B5EF4-FFF2-40B4-BE49-F238E27FC236}">
                <a16:creationId xmlns:a16="http://schemas.microsoft.com/office/drawing/2014/main" id="{A7788592-4238-7648-C098-DCD8A195F038}"/>
              </a:ext>
            </a:extLst>
          </p:cNvPr>
          <p:cNvPicPr>
            <a:picLocks noChangeAspect="1"/>
          </p:cNvPicPr>
          <p:nvPr/>
        </p:nvPicPr>
        <p:blipFill>
          <a:blip r:embed="rId5"/>
          <a:stretch>
            <a:fillRect/>
          </a:stretch>
        </p:blipFill>
        <p:spPr>
          <a:xfrm>
            <a:off x="7325031" y="3447464"/>
            <a:ext cx="4852903" cy="2748328"/>
          </a:xfrm>
          <a:prstGeom prst="rect">
            <a:avLst/>
          </a:prstGeom>
        </p:spPr>
      </p:pic>
    </p:spTree>
    <p:extLst>
      <p:ext uri="{BB962C8B-B14F-4D97-AF65-F5344CB8AC3E}">
        <p14:creationId xmlns:p14="http://schemas.microsoft.com/office/powerpoint/2010/main" val="3713819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2984C-AB61-963F-EADD-FD9DF027308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9ADE14-7806-E5DC-94BA-7614D269953D}"/>
              </a:ext>
            </a:extLst>
          </p:cNvPr>
          <p:cNvSpPr>
            <a:spLocks noGrp="1"/>
          </p:cNvSpPr>
          <p:nvPr>
            <p:ph sz="quarter" idx="13"/>
          </p:nvPr>
        </p:nvSpPr>
        <p:spPr>
          <a:xfrm>
            <a:off x="205851" y="2544074"/>
            <a:ext cx="3019129" cy="3424107"/>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cap="none" dirty="0">
              <a:latin typeface="Calibri" panose="020F0502020204030204" pitchFamily="34" charset="0"/>
              <a:ea typeface="Calibri" panose="020F0502020204030204" pitchFamily="34" charset="0"/>
              <a:cs typeface="Calibri" panose="020F0502020204030204" pitchFamily="34" charset="0"/>
            </a:endParaRPr>
          </a:p>
          <a:p>
            <a:r>
              <a:rPr lang="en-US" sz="1800" cap="none" dirty="0">
                <a:latin typeface="Calibri" panose="020F0502020204030204" pitchFamily="34" charset="0"/>
                <a:ea typeface="Calibri" panose="020F0502020204030204" pitchFamily="34" charset="0"/>
                <a:cs typeface="Calibri" panose="020F0502020204030204" pitchFamily="34" charset="0"/>
              </a:rPr>
              <a:t>The company consists of mostly of people below the age of 41</a:t>
            </a:r>
          </a:p>
          <a:p>
            <a:r>
              <a:rPr lang="en-US" sz="1800" cap="none" dirty="0">
                <a:latin typeface="Calibri" panose="020F0502020204030204" pitchFamily="34" charset="0"/>
                <a:ea typeface="Calibri" panose="020F0502020204030204" pitchFamily="34" charset="0"/>
                <a:cs typeface="Calibri" panose="020F0502020204030204" pitchFamily="34" charset="0"/>
              </a:rPr>
              <a:t>More than 60% of the staff average work life balance</a:t>
            </a:r>
          </a:p>
          <a:p>
            <a:r>
              <a:rPr lang="en-US" sz="1800" cap="none" dirty="0">
                <a:latin typeface="Calibri" panose="020F0502020204030204" pitchFamily="34" charset="0"/>
                <a:ea typeface="Calibri" panose="020F0502020204030204" pitchFamily="34" charset="0"/>
                <a:cs typeface="Calibri" panose="020F0502020204030204" pitchFamily="34" charset="0"/>
              </a:rPr>
              <a:t>More than 70% do not have stock options</a:t>
            </a:r>
          </a:p>
          <a:p>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4B12463E-90FE-0482-6F2A-D17CAA24E809}"/>
              </a:ext>
            </a:extLst>
          </p:cNvPr>
          <p:cNvPicPr>
            <a:picLocks noChangeAspect="1"/>
          </p:cNvPicPr>
          <p:nvPr/>
        </p:nvPicPr>
        <p:blipFill>
          <a:blip r:embed="rId2"/>
          <a:stretch>
            <a:fillRect/>
          </a:stretch>
        </p:blipFill>
        <p:spPr>
          <a:xfrm>
            <a:off x="3891310" y="4437411"/>
            <a:ext cx="3957684" cy="2304204"/>
          </a:xfrm>
          <a:prstGeom prst="rect">
            <a:avLst/>
          </a:prstGeom>
        </p:spPr>
      </p:pic>
      <p:pic>
        <p:nvPicPr>
          <p:cNvPr id="15" name="Picture 14">
            <a:extLst>
              <a:ext uri="{FF2B5EF4-FFF2-40B4-BE49-F238E27FC236}">
                <a16:creationId xmlns:a16="http://schemas.microsoft.com/office/drawing/2014/main" id="{30DC58E2-C6C4-70D0-7F70-9E1A1A215FC4}"/>
              </a:ext>
            </a:extLst>
          </p:cNvPr>
          <p:cNvPicPr>
            <a:picLocks noChangeAspect="1"/>
          </p:cNvPicPr>
          <p:nvPr/>
        </p:nvPicPr>
        <p:blipFill>
          <a:blip r:embed="rId3"/>
          <a:stretch>
            <a:fillRect/>
          </a:stretch>
        </p:blipFill>
        <p:spPr>
          <a:xfrm>
            <a:off x="4006445" y="0"/>
            <a:ext cx="4072819" cy="2389239"/>
          </a:xfrm>
          <a:prstGeom prst="rect">
            <a:avLst/>
          </a:prstGeom>
        </p:spPr>
      </p:pic>
      <p:pic>
        <p:nvPicPr>
          <p:cNvPr id="17" name="Picture 16">
            <a:extLst>
              <a:ext uri="{FF2B5EF4-FFF2-40B4-BE49-F238E27FC236}">
                <a16:creationId xmlns:a16="http://schemas.microsoft.com/office/drawing/2014/main" id="{91AEE2C7-D188-D332-9546-6A6464910A15}"/>
              </a:ext>
            </a:extLst>
          </p:cNvPr>
          <p:cNvPicPr>
            <a:picLocks noChangeAspect="1"/>
          </p:cNvPicPr>
          <p:nvPr/>
        </p:nvPicPr>
        <p:blipFill>
          <a:blip r:embed="rId4"/>
          <a:stretch>
            <a:fillRect/>
          </a:stretch>
        </p:blipFill>
        <p:spPr>
          <a:xfrm>
            <a:off x="7848504" y="2389239"/>
            <a:ext cx="4216302" cy="2487561"/>
          </a:xfrm>
          <a:prstGeom prst="rect">
            <a:avLst/>
          </a:prstGeom>
        </p:spPr>
      </p:pic>
    </p:spTree>
    <p:extLst>
      <p:ext uri="{BB962C8B-B14F-4D97-AF65-F5344CB8AC3E}">
        <p14:creationId xmlns:p14="http://schemas.microsoft.com/office/powerpoint/2010/main" val="2485386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2A63C-1BF0-4C6E-1C2C-A810D51CCC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A83F41-919D-20A8-B16A-BACA3A58DD99}"/>
              </a:ext>
            </a:extLst>
          </p:cNvPr>
          <p:cNvSpPr>
            <a:spLocks noGrp="1"/>
          </p:cNvSpPr>
          <p:nvPr>
            <p:ph sz="quarter" idx="13"/>
          </p:nvPr>
        </p:nvSpPr>
        <p:spPr>
          <a:xfrm>
            <a:off x="68826" y="1716946"/>
            <a:ext cx="3092436" cy="4398719"/>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cap="none" dirty="0">
              <a:latin typeface="Calibri" panose="020F0502020204030204" pitchFamily="34" charset="0"/>
              <a:ea typeface="Calibri" panose="020F0502020204030204" pitchFamily="34" charset="0"/>
              <a:cs typeface="Calibri" panose="020F0502020204030204" pitchFamily="34" charset="0"/>
            </a:endParaRPr>
          </a:p>
          <a:p>
            <a:r>
              <a:rPr lang="en-US" sz="1800" cap="none" dirty="0">
                <a:latin typeface="Calibri" panose="020F0502020204030204" pitchFamily="34" charset="0"/>
                <a:ea typeface="Calibri" panose="020F0502020204030204" pitchFamily="34" charset="0"/>
                <a:cs typeface="Calibri" panose="020F0502020204030204" pitchFamily="34" charset="0"/>
              </a:rPr>
              <a:t>More than 80% of the staff are performing at average level</a:t>
            </a:r>
          </a:p>
          <a:p>
            <a:r>
              <a:rPr lang="en-US" sz="1800" cap="none" dirty="0">
                <a:latin typeface="Calibri" panose="020F0502020204030204" pitchFamily="34" charset="0"/>
                <a:ea typeface="Calibri" panose="020F0502020204030204" pitchFamily="34" charset="0"/>
                <a:cs typeface="Calibri" panose="020F0502020204030204" pitchFamily="34" charset="0"/>
              </a:rPr>
              <a:t>While more than half have averagely good work relationships</a:t>
            </a:r>
          </a:p>
          <a:p>
            <a:r>
              <a:rPr lang="en-US" sz="1800" cap="none" dirty="0">
                <a:latin typeface="Calibri" panose="020F0502020204030204" pitchFamily="34" charset="0"/>
                <a:ea typeface="Calibri" panose="020F0502020204030204" pitchFamily="34" charset="0"/>
                <a:cs typeface="Calibri" panose="020F0502020204030204" pitchFamily="34" charset="0"/>
              </a:rPr>
              <a:t>About 30% of the staff work overtime</a:t>
            </a:r>
          </a:p>
          <a:p>
            <a:r>
              <a:rPr lang="en-US" sz="1800" cap="none" dirty="0">
                <a:latin typeface="Calibri" panose="020F0502020204030204" pitchFamily="34" charset="0"/>
                <a:ea typeface="Calibri" panose="020F0502020204030204" pitchFamily="34" charset="0"/>
                <a:cs typeface="Calibri" panose="020F0502020204030204" pitchFamily="34" charset="0"/>
              </a:rPr>
              <a:t>Only 4% of them consistently attend trainings</a:t>
            </a:r>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A518B0B9-01C9-A9DB-C09D-41D7BCA936C8}"/>
              </a:ext>
            </a:extLst>
          </p:cNvPr>
          <p:cNvPicPr>
            <a:picLocks noChangeAspect="1"/>
          </p:cNvPicPr>
          <p:nvPr/>
        </p:nvPicPr>
        <p:blipFill>
          <a:blip r:embed="rId2"/>
          <a:stretch>
            <a:fillRect/>
          </a:stretch>
        </p:blipFill>
        <p:spPr>
          <a:xfrm>
            <a:off x="7589820" y="3802962"/>
            <a:ext cx="4407396" cy="2564520"/>
          </a:xfrm>
          <a:prstGeom prst="rect">
            <a:avLst/>
          </a:prstGeom>
        </p:spPr>
      </p:pic>
      <p:pic>
        <p:nvPicPr>
          <p:cNvPr id="9" name="Picture 8">
            <a:extLst>
              <a:ext uri="{FF2B5EF4-FFF2-40B4-BE49-F238E27FC236}">
                <a16:creationId xmlns:a16="http://schemas.microsoft.com/office/drawing/2014/main" id="{39612AF6-9CFC-6EDA-A0FE-232B83903155}"/>
              </a:ext>
            </a:extLst>
          </p:cNvPr>
          <p:cNvPicPr>
            <a:picLocks noChangeAspect="1"/>
          </p:cNvPicPr>
          <p:nvPr/>
        </p:nvPicPr>
        <p:blipFill>
          <a:blip r:embed="rId3"/>
          <a:stretch>
            <a:fillRect/>
          </a:stretch>
        </p:blipFill>
        <p:spPr>
          <a:xfrm>
            <a:off x="7554230" y="264377"/>
            <a:ext cx="4300929" cy="2533424"/>
          </a:xfrm>
          <a:prstGeom prst="rect">
            <a:avLst/>
          </a:prstGeom>
        </p:spPr>
      </p:pic>
      <p:pic>
        <p:nvPicPr>
          <p:cNvPr id="12" name="Picture 11">
            <a:extLst>
              <a:ext uri="{FF2B5EF4-FFF2-40B4-BE49-F238E27FC236}">
                <a16:creationId xmlns:a16="http://schemas.microsoft.com/office/drawing/2014/main" id="{374FB22B-B462-8D6C-00B1-6E491B053825}"/>
              </a:ext>
            </a:extLst>
          </p:cNvPr>
          <p:cNvPicPr>
            <a:picLocks noChangeAspect="1"/>
          </p:cNvPicPr>
          <p:nvPr/>
        </p:nvPicPr>
        <p:blipFill>
          <a:blip r:embed="rId4"/>
          <a:stretch>
            <a:fillRect/>
          </a:stretch>
        </p:blipFill>
        <p:spPr>
          <a:xfrm>
            <a:off x="3292535" y="334901"/>
            <a:ext cx="4075289" cy="2392376"/>
          </a:xfrm>
          <a:prstGeom prst="rect">
            <a:avLst/>
          </a:prstGeom>
        </p:spPr>
      </p:pic>
      <p:pic>
        <p:nvPicPr>
          <p:cNvPr id="14" name="Picture 13">
            <a:extLst>
              <a:ext uri="{FF2B5EF4-FFF2-40B4-BE49-F238E27FC236}">
                <a16:creationId xmlns:a16="http://schemas.microsoft.com/office/drawing/2014/main" id="{87422C61-833A-48E3-8AC1-71433D3EB660}"/>
              </a:ext>
            </a:extLst>
          </p:cNvPr>
          <p:cNvPicPr>
            <a:picLocks noChangeAspect="1"/>
          </p:cNvPicPr>
          <p:nvPr/>
        </p:nvPicPr>
        <p:blipFill>
          <a:blip r:embed="rId5"/>
          <a:stretch>
            <a:fillRect/>
          </a:stretch>
        </p:blipFill>
        <p:spPr>
          <a:xfrm>
            <a:off x="3307132" y="3810795"/>
            <a:ext cx="4136818" cy="2392376"/>
          </a:xfrm>
          <a:prstGeom prst="rect">
            <a:avLst/>
          </a:prstGeom>
        </p:spPr>
      </p:pic>
    </p:spTree>
    <p:extLst>
      <p:ext uri="{BB962C8B-B14F-4D97-AF65-F5344CB8AC3E}">
        <p14:creationId xmlns:p14="http://schemas.microsoft.com/office/powerpoint/2010/main" val="637412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582C4B3-3FC8-F045-C77D-DC1E74C6CE18}"/>
              </a:ext>
            </a:extLst>
          </p:cNvPr>
          <p:cNvSpPr txBox="1">
            <a:spLocks noGrp="1"/>
          </p:cNvSpPr>
          <p:nvPr>
            <p:ph type="title"/>
          </p:nvPr>
        </p:nvSpPr>
        <p:spPr>
          <a:xfrm>
            <a:off x="737419" y="3242187"/>
            <a:ext cx="4414684" cy="80378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3200" b="1" cap="none"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Bivariate Analysis</a:t>
            </a:r>
            <a:endParaRPr lang="en-NG" sz="32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40396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93ABB68-8293-63A2-13DE-40F21AE8AEB5}"/>
              </a:ext>
            </a:extLst>
          </p:cNvPr>
          <p:cNvSpPr>
            <a:spLocks noGrp="1"/>
          </p:cNvSpPr>
          <p:nvPr>
            <p:ph sz="quarter" idx="13"/>
          </p:nvPr>
        </p:nvSpPr>
        <p:spPr>
          <a:xfrm>
            <a:off x="219988" y="1968005"/>
            <a:ext cx="5354902" cy="3508562"/>
          </a:xfrm>
        </p:spPr>
        <p:txBody>
          <a:bodyPr>
            <a:normAutofit/>
          </a:bodyPr>
          <a:lstStyle/>
          <a:p>
            <a:pPr marL="0" indent="0">
              <a:buNone/>
            </a:pPr>
            <a:r>
              <a:rPr lang="en-US" b="1" cap="none" dirty="0">
                <a:latin typeface="Calibri" panose="020F0502020204030204" pitchFamily="34" charset="0"/>
                <a:ea typeface="Calibri" panose="020F0502020204030204" pitchFamily="34" charset="0"/>
                <a:cs typeface="Calibri" panose="020F0502020204030204" pitchFamily="34" charset="0"/>
              </a:rPr>
              <a:t>Insights:</a:t>
            </a:r>
            <a:endParaRPr lang="en-US" b="0" i="0" cap="none"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b="0" i="0" cap="none" dirty="0">
                <a:effectLst/>
                <a:latin typeface="Calibri" panose="020F0502020204030204" pitchFamily="34" charset="0"/>
                <a:ea typeface="Calibri" panose="020F0502020204030204" pitchFamily="34" charset="0"/>
                <a:cs typeface="Calibri" panose="020F0502020204030204" pitchFamily="34" charset="0"/>
              </a:rPr>
              <a:t>People who travel frequently are more likely to churn</a:t>
            </a:r>
          </a:p>
          <a:p>
            <a:pPr algn="l">
              <a:buFont typeface="Arial" panose="020B0604020202020204" pitchFamily="34" charset="0"/>
              <a:buChar char="•"/>
            </a:pPr>
            <a:r>
              <a:rPr lang="en-US" b="0" i="0" cap="none" dirty="0">
                <a:effectLst/>
                <a:latin typeface="Calibri" panose="020F0502020204030204" pitchFamily="34" charset="0"/>
                <a:ea typeface="Calibri" panose="020F0502020204030204" pitchFamily="34" charset="0"/>
                <a:cs typeface="Calibri" panose="020F0502020204030204" pitchFamily="34" charset="0"/>
              </a:rPr>
              <a:t>People in sales and human resources department are more likely to leave</a:t>
            </a:r>
          </a:p>
          <a:p>
            <a:pPr algn="l">
              <a:buFont typeface="Arial" panose="020B0604020202020204" pitchFamily="34" charset="0"/>
              <a:buChar char="•"/>
            </a:pPr>
            <a:r>
              <a:rPr lang="en-US" b="0" i="0" cap="none" dirty="0">
                <a:effectLst/>
                <a:latin typeface="Calibri" panose="020F0502020204030204" pitchFamily="34" charset="0"/>
                <a:ea typeface="Calibri" panose="020F0502020204030204" pitchFamily="34" charset="0"/>
                <a:cs typeface="Calibri" panose="020F0502020204030204" pitchFamily="34" charset="0"/>
              </a:rPr>
              <a:t>People with education levels 1 and 3 are more likely to leave</a:t>
            </a:r>
          </a:p>
        </p:txBody>
      </p:sp>
      <p:sp>
        <p:nvSpPr>
          <p:cNvPr id="5" name="Title 1">
            <a:extLst>
              <a:ext uri="{FF2B5EF4-FFF2-40B4-BE49-F238E27FC236}">
                <a16:creationId xmlns:a16="http://schemas.microsoft.com/office/drawing/2014/main" id="{CD0D9CE5-CB7D-8FD3-E846-76F204C24F25}"/>
              </a:ext>
            </a:extLst>
          </p:cNvPr>
          <p:cNvSpPr txBox="1">
            <a:spLocks noGrp="1"/>
          </p:cNvSpPr>
          <p:nvPr>
            <p:ph type="title"/>
          </p:nvPr>
        </p:nvSpPr>
        <p:spPr>
          <a:xfrm>
            <a:off x="727846" y="1120611"/>
            <a:ext cx="4424257" cy="7284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Rate of Attrition Distribution</a:t>
            </a:r>
            <a:endParaRPr lang="en-NG" sz="28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2E64BE3A-D0E1-6C3C-32E3-9A239457D185}"/>
              </a:ext>
            </a:extLst>
          </p:cNvPr>
          <p:cNvPicPr>
            <a:picLocks noChangeAspect="1"/>
          </p:cNvPicPr>
          <p:nvPr/>
        </p:nvPicPr>
        <p:blipFill>
          <a:blip r:embed="rId2"/>
          <a:stretch>
            <a:fillRect/>
          </a:stretch>
        </p:blipFill>
        <p:spPr>
          <a:xfrm>
            <a:off x="5334000" y="86407"/>
            <a:ext cx="4242619" cy="2068409"/>
          </a:xfrm>
          <a:prstGeom prst="rect">
            <a:avLst/>
          </a:prstGeom>
        </p:spPr>
      </p:pic>
      <p:pic>
        <p:nvPicPr>
          <p:cNvPr id="9" name="Picture 8">
            <a:extLst>
              <a:ext uri="{FF2B5EF4-FFF2-40B4-BE49-F238E27FC236}">
                <a16:creationId xmlns:a16="http://schemas.microsoft.com/office/drawing/2014/main" id="{39D3D08D-87B0-519A-9D92-8ED6917172AD}"/>
              </a:ext>
            </a:extLst>
          </p:cNvPr>
          <p:cNvPicPr>
            <a:picLocks noChangeAspect="1"/>
          </p:cNvPicPr>
          <p:nvPr/>
        </p:nvPicPr>
        <p:blipFill>
          <a:blip r:embed="rId3"/>
          <a:stretch>
            <a:fillRect/>
          </a:stretch>
        </p:blipFill>
        <p:spPr>
          <a:xfrm>
            <a:off x="7620002" y="2329292"/>
            <a:ext cx="4444181" cy="2199416"/>
          </a:xfrm>
          <a:prstGeom prst="rect">
            <a:avLst/>
          </a:prstGeom>
        </p:spPr>
      </p:pic>
      <p:pic>
        <p:nvPicPr>
          <p:cNvPr id="11" name="Picture 10">
            <a:extLst>
              <a:ext uri="{FF2B5EF4-FFF2-40B4-BE49-F238E27FC236}">
                <a16:creationId xmlns:a16="http://schemas.microsoft.com/office/drawing/2014/main" id="{BD112537-8017-A262-66DB-32E2FEA223B6}"/>
              </a:ext>
            </a:extLst>
          </p:cNvPr>
          <p:cNvPicPr>
            <a:picLocks noChangeAspect="1"/>
          </p:cNvPicPr>
          <p:nvPr/>
        </p:nvPicPr>
        <p:blipFill>
          <a:blip r:embed="rId4"/>
          <a:stretch>
            <a:fillRect/>
          </a:stretch>
        </p:blipFill>
        <p:spPr>
          <a:xfrm>
            <a:off x="5574890" y="4567271"/>
            <a:ext cx="4532672" cy="2204322"/>
          </a:xfrm>
          <a:prstGeom prst="rect">
            <a:avLst/>
          </a:prstGeom>
        </p:spPr>
      </p:pic>
    </p:spTree>
    <p:extLst>
      <p:ext uri="{BB962C8B-B14F-4D97-AF65-F5344CB8AC3E}">
        <p14:creationId xmlns:p14="http://schemas.microsoft.com/office/powerpoint/2010/main" val="1808249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606FE3-4CB0-FD0B-5380-F2AE0C86C06C}"/>
              </a:ext>
            </a:extLst>
          </p:cNvPr>
          <p:cNvPicPr>
            <a:picLocks noChangeAspect="1"/>
          </p:cNvPicPr>
          <p:nvPr/>
        </p:nvPicPr>
        <p:blipFill>
          <a:blip r:embed="rId2"/>
          <a:stretch>
            <a:fillRect/>
          </a:stretch>
        </p:blipFill>
        <p:spPr>
          <a:xfrm>
            <a:off x="5211449" y="-88490"/>
            <a:ext cx="4773209" cy="2335052"/>
          </a:xfrm>
          <a:prstGeom prst="rect">
            <a:avLst/>
          </a:prstGeom>
        </p:spPr>
      </p:pic>
      <p:pic>
        <p:nvPicPr>
          <p:cNvPr id="7" name="Picture 6">
            <a:extLst>
              <a:ext uri="{FF2B5EF4-FFF2-40B4-BE49-F238E27FC236}">
                <a16:creationId xmlns:a16="http://schemas.microsoft.com/office/drawing/2014/main" id="{CEF09AC5-F2E3-F4EE-DE1D-7B012F96E327}"/>
              </a:ext>
            </a:extLst>
          </p:cNvPr>
          <p:cNvPicPr>
            <a:picLocks noChangeAspect="1"/>
          </p:cNvPicPr>
          <p:nvPr/>
        </p:nvPicPr>
        <p:blipFill>
          <a:blip r:embed="rId3"/>
          <a:stretch>
            <a:fillRect/>
          </a:stretch>
        </p:blipFill>
        <p:spPr>
          <a:xfrm>
            <a:off x="7256206" y="2401775"/>
            <a:ext cx="4414684" cy="2168225"/>
          </a:xfrm>
          <a:prstGeom prst="rect">
            <a:avLst/>
          </a:prstGeom>
        </p:spPr>
      </p:pic>
      <p:pic>
        <p:nvPicPr>
          <p:cNvPr id="9" name="Picture 8">
            <a:extLst>
              <a:ext uri="{FF2B5EF4-FFF2-40B4-BE49-F238E27FC236}">
                <a16:creationId xmlns:a16="http://schemas.microsoft.com/office/drawing/2014/main" id="{9129C2F3-9F9D-7A56-8D8E-74B7B58E4A81}"/>
              </a:ext>
            </a:extLst>
          </p:cNvPr>
          <p:cNvPicPr>
            <a:picLocks noChangeAspect="1"/>
          </p:cNvPicPr>
          <p:nvPr/>
        </p:nvPicPr>
        <p:blipFill>
          <a:blip r:embed="rId4"/>
          <a:stretch>
            <a:fillRect/>
          </a:stretch>
        </p:blipFill>
        <p:spPr>
          <a:xfrm>
            <a:off x="5460454" y="4725213"/>
            <a:ext cx="4414684" cy="2093217"/>
          </a:xfrm>
          <a:prstGeom prst="rect">
            <a:avLst/>
          </a:prstGeom>
        </p:spPr>
      </p:pic>
      <p:sp>
        <p:nvSpPr>
          <p:cNvPr id="11" name="TextBox 10">
            <a:extLst>
              <a:ext uri="{FF2B5EF4-FFF2-40B4-BE49-F238E27FC236}">
                <a16:creationId xmlns:a16="http://schemas.microsoft.com/office/drawing/2014/main" id="{42D2D8A6-C1FE-292C-6CA8-EEEB910A83A9}"/>
              </a:ext>
            </a:extLst>
          </p:cNvPr>
          <p:cNvSpPr txBox="1"/>
          <p:nvPr/>
        </p:nvSpPr>
        <p:spPr>
          <a:xfrm>
            <a:off x="160021" y="2608724"/>
            <a:ext cx="6096000" cy="1754326"/>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Insights:</a:t>
            </a:r>
          </a:p>
          <a:p>
            <a:endParaRPr lang="en-US" b="1" dirty="0">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Those in technical, human resources, and other education fields are more likely to leave</a:t>
            </a:r>
          </a:p>
          <a:p>
            <a:pPr marL="285750"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Those least satisfied with the environment </a:t>
            </a:r>
          </a:p>
          <a:p>
            <a:pPr marL="285750" indent="-2857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Men exit just slight more than female</a:t>
            </a:r>
            <a:endParaRPr lang="en-US" b="0" i="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2" name="Title 1">
            <a:extLst>
              <a:ext uri="{FF2B5EF4-FFF2-40B4-BE49-F238E27FC236}">
                <a16:creationId xmlns:a16="http://schemas.microsoft.com/office/drawing/2014/main" id="{535D9370-1EB4-7063-1A20-CC942A77F243}"/>
              </a:ext>
            </a:extLst>
          </p:cNvPr>
          <p:cNvSpPr txBox="1">
            <a:spLocks noGrp="1"/>
          </p:cNvSpPr>
          <p:nvPr>
            <p:ph type="title"/>
          </p:nvPr>
        </p:nvSpPr>
        <p:spPr>
          <a:xfrm>
            <a:off x="727846" y="1120611"/>
            <a:ext cx="4424257" cy="7284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Rate of Attrition Distribution</a:t>
            </a:r>
            <a:endParaRPr lang="en-NG" sz="28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2032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71D951-364A-F0A3-DDDA-00F933540B8B}"/>
              </a:ext>
            </a:extLst>
          </p:cNvPr>
          <p:cNvPicPr>
            <a:picLocks noChangeAspect="1"/>
          </p:cNvPicPr>
          <p:nvPr/>
        </p:nvPicPr>
        <p:blipFill>
          <a:blip r:embed="rId2"/>
          <a:stretch>
            <a:fillRect/>
          </a:stretch>
        </p:blipFill>
        <p:spPr>
          <a:xfrm>
            <a:off x="5368412" y="0"/>
            <a:ext cx="4301188" cy="2074563"/>
          </a:xfrm>
          <a:prstGeom prst="rect">
            <a:avLst/>
          </a:prstGeom>
        </p:spPr>
      </p:pic>
      <p:pic>
        <p:nvPicPr>
          <p:cNvPr id="7" name="Picture 6">
            <a:extLst>
              <a:ext uri="{FF2B5EF4-FFF2-40B4-BE49-F238E27FC236}">
                <a16:creationId xmlns:a16="http://schemas.microsoft.com/office/drawing/2014/main" id="{6C45F7E8-AFDE-3D01-0116-852C9030B50B}"/>
              </a:ext>
            </a:extLst>
          </p:cNvPr>
          <p:cNvPicPr>
            <a:picLocks noChangeAspect="1"/>
          </p:cNvPicPr>
          <p:nvPr/>
        </p:nvPicPr>
        <p:blipFill>
          <a:blip r:embed="rId3"/>
          <a:stretch>
            <a:fillRect/>
          </a:stretch>
        </p:blipFill>
        <p:spPr>
          <a:xfrm>
            <a:off x="7364362" y="2205771"/>
            <a:ext cx="4390270" cy="2114247"/>
          </a:xfrm>
          <a:prstGeom prst="rect">
            <a:avLst/>
          </a:prstGeom>
        </p:spPr>
      </p:pic>
      <p:pic>
        <p:nvPicPr>
          <p:cNvPr id="9" name="Picture 8">
            <a:extLst>
              <a:ext uri="{FF2B5EF4-FFF2-40B4-BE49-F238E27FC236}">
                <a16:creationId xmlns:a16="http://schemas.microsoft.com/office/drawing/2014/main" id="{6A0018F2-CC9E-45E9-169D-341F8F76A7B5}"/>
              </a:ext>
            </a:extLst>
          </p:cNvPr>
          <p:cNvPicPr>
            <a:picLocks noChangeAspect="1"/>
          </p:cNvPicPr>
          <p:nvPr/>
        </p:nvPicPr>
        <p:blipFill>
          <a:blip r:embed="rId4"/>
          <a:stretch>
            <a:fillRect/>
          </a:stretch>
        </p:blipFill>
        <p:spPr>
          <a:xfrm>
            <a:off x="5704001" y="4320018"/>
            <a:ext cx="5029459" cy="2406774"/>
          </a:xfrm>
          <a:prstGeom prst="rect">
            <a:avLst/>
          </a:prstGeom>
        </p:spPr>
      </p:pic>
      <p:sp>
        <p:nvSpPr>
          <p:cNvPr id="11" name="TextBox 10">
            <a:extLst>
              <a:ext uri="{FF2B5EF4-FFF2-40B4-BE49-F238E27FC236}">
                <a16:creationId xmlns:a16="http://schemas.microsoft.com/office/drawing/2014/main" id="{57D36C9D-48E8-5654-643D-26860831FE94}"/>
              </a:ext>
            </a:extLst>
          </p:cNvPr>
          <p:cNvSpPr txBox="1"/>
          <p:nvPr/>
        </p:nvSpPr>
        <p:spPr>
          <a:xfrm>
            <a:off x="260388" y="2536192"/>
            <a:ext cx="6096000" cy="2031325"/>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Insights:</a:t>
            </a:r>
          </a:p>
          <a:p>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Staffs with</a:t>
            </a:r>
            <a:r>
              <a:rPr lang="en-US" b="0" i="0" dirty="0">
                <a:effectLst/>
                <a:latin typeface="Calibri" panose="020F0502020204030204" pitchFamily="34" charset="0"/>
                <a:ea typeface="Calibri" panose="020F0502020204030204" pitchFamily="34" charset="0"/>
                <a:cs typeface="Calibri" panose="020F0502020204030204" pitchFamily="34" charset="0"/>
              </a:rPr>
              <a:t> least job involvement and job level</a:t>
            </a:r>
          </a:p>
          <a:p>
            <a:pPr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Job roles tend to exit more in this order: sales reps, human resources, laboratory tech, sales executives, research scientist</a:t>
            </a:r>
          </a:p>
        </p:txBody>
      </p:sp>
      <p:sp>
        <p:nvSpPr>
          <p:cNvPr id="12" name="Title 1">
            <a:extLst>
              <a:ext uri="{FF2B5EF4-FFF2-40B4-BE49-F238E27FC236}">
                <a16:creationId xmlns:a16="http://schemas.microsoft.com/office/drawing/2014/main" id="{A4A114C1-E17C-B803-B747-665438729DC8}"/>
              </a:ext>
            </a:extLst>
          </p:cNvPr>
          <p:cNvSpPr txBox="1">
            <a:spLocks noGrp="1"/>
          </p:cNvSpPr>
          <p:nvPr>
            <p:ph type="title"/>
          </p:nvPr>
        </p:nvSpPr>
        <p:spPr>
          <a:xfrm>
            <a:off x="727846" y="1120611"/>
            <a:ext cx="4424257" cy="7284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Rate of Attrition Distribution</a:t>
            </a:r>
            <a:endParaRPr lang="en-NG" sz="28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90916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AE16C4-183F-D5C0-3587-6B57FEE48533}"/>
              </a:ext>
            </a:extLst>
          </p:cNvPr>
          <p:cNvPicPr>
            <a:picLocks noChangeAspect="1"/>
          </p:cNvPicPr>
          <p:nvPr/>
        </p:nvPicPr>
        <p:blipFill>
          <a:blip r:embed="rId2"/>
          <a:stretch>
            <a:fillRect/>
          </a:stretch>
        </p:blipFill>
        <p:spPr>
          <a:xfrm>
            <a:off x="4395020" y="56092"/>
            <a:ext cx="4845090" cy="2361678"/>
          </a:xfrm>
          <a:prstGeom prst="rect">
            <a:avLst/>
          </a:prstGeom>
        </p:spPr>
      </p:pic>
      <p:pic>
        <p:nvPicPr>
          <p:cNvPr id="7" name="Picture 6">
            <a:extLst>
              <a:ext uri="{FF2B5EF4-FFF2-40B4-BE49-F238E27FC236}">
                <a16:creationId xmlns:a16="http://schemas.microsoft.com/office/drawing/2014/main" id="{CDF57CA5-5FFC-1581-5897-9174452050F5}"/>
              </a:ext>
            </a:extLst>
          </p:cNvPr>
          <p:cNvPicPr>
            <a:picLocks noChangeAspect="1"/>
          </p:cNvPicPr>
          <p:nvPr/>
        </p:nvPicPr>
        <p:blipFill>
          <a:blip r:embed="rId3"/>
          <a:stretch>
            <a:fillRect/>
          </a:stretch>
        </p:blipFill>
        <p:spPr>
          <a:xfrm>
            <a:off x="7600335" y="2605219"/>
            <a:ext cx="4368443" cy="2103736"/>
          </a:xfrm>
          <a:prstGeom prst="rect">
            <a:avLst/>
          </a:prstGeom>
        </p:spPr>
      </p:pic>
      <p:pic>
        <p:nvPicPr>
          <p:cNvPr id="9" name="Picture 8">
            <a:extLst>
              <a:ext uri="{FF2B5EF4-FFF2-40B4-BE49-F238E27FC236}">
                <a16:creationId xmlns:a16="http://schemas.microsoft.com/office/drawing/2014/main" id="{D39C6E89-2338-AB5D-CF7C-D6179EE3FD42}"/>
              </a:ext>
            </a:extLst>
          </p:cNvPr>
          <p:cNvPicPr>
            <a:picLocks noChangeAspect="1"/>
          </p:cNvPicPr>
          <p:nvPr/>
        </p:nvPicPr>
        <p:blipFill>
          <a:blip r:embed="rId4"/>
          <a:stretch>
            <a:fillRect/>
          </a:stretch>
        </p:blipFill>
        <p:spPr>
          <a:xfrm>
            <a:off x="4395020" y="4777825"/>
            <a:ext cx="4256046" cy="2044199"/>
          </a:xfrm>
          <a:prstGeom prst="rect">
            <a:avLst/>
          </a:prstGeom>
        </p:spPr>
      </p:pic>
      <p:sp>
        <p:nvSpPr>
          <p:cNvPr id="11" name="TextBox 10">
            <a:extLst>
              <a:ext uri="{FF2B5EF4-FFF2-40B4-BE49-F238E27FC236}">
                <a16:creationId xmlns:a16="http://schemas.microsoft.com/office/drawing/2014/main" id="{3EA8375C-7229-53B5-DD37-EFF1418BAF1C}"/>
              </a:ext>
            </a:extLst>
          </p:cNvPr>
          <p:cNvSpPr txBox="1"/>
          <p:nvPr/>
        </p:nvSpPr>
        <p:spPr>
          <a:xfrm>
            <a:off x="427043" y="2423383"/>
            <a:ext cx="6096000" cy="2031325"/>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Insights:</a:t>
            </a:r>
          </a:p>
          <a:p>
            <a:pPr algn="l"/>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As job satisfaction drops, staffs are more likely to leave</a:t>
            </a:r>
            <a:r>
              <a:rPr lang="en-US" b="0" i="0" dirty="0">
                <a:effectLst/>
                <a:latin typeface="Calibri" panose="020F0502020204030204" pitchFamily="34" charset="0"/>
                <a:ea typeface="Calibri" panose="020F0502020204030204" pitchFamily="34" charset="0"/>
                <a:cs typeface="Calibri" panose="020F0502020204030204" pitchFamily="34" charset="0"/>
              </a:rPr>
              <a:t> and least relationship satisfaction</a:t>
            </a:r>
          </a:p>
          <a:p>
            <a:pPr marL="285750"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Single staffs exit more</a:t>
            </a:r>
          </a:p>
          <a:p>
            <a:pPr marL="285750"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Those who do overtime are more likely to leave</a:t>
            </a:r>
          </a:p>
          <a:p>
            <a:pPr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2" name="Title 1">
            <a:extLst>
              <a:ext uri="{FF2B5EF4-FFF2-40B4-BE49-F238E27FC236}">
                <a16:creationId xmlns:a16="http://schemas.microsoft.com/office/drawing/2014/main" id="{B5710F8A-B3B8-3C4D-1EAB-8CC22BC944C7}"/>
              </a:ext>
            </a:extLst>
          </p:cNvPr>
          <p:cNvSpPr txBox="1">
            <a:spLocks noGrp="1"/>
          </p:cNvSpPr>
          <p:nvPr>
            <p:ph type="title"/>
          </p:nvPr>
        </p:nvSpPr>
        <p:spPr>
          <a:xfrm>
            <a:off x="198903" y="1660536"/>
            <a:ext cx="4424257" cy="7284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Rate of Attrition Distribution</a:t>
            </a:r>
            <a:endParaRPr lang="en-NG" sz="28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24099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BAACBE-00D7-4CBE-6161-0588CDC61901}"/>
              </a:ext>
            </a:extLst>
          </p:cNvPr>
          <p:cNvPicPr>
            <a:picLocks noChangeAspect="1"/>
          </p:cNvPicPr>
          <p:nvPr/>
        </p:nvPicPr>
        <p:blipFill>
          <a:blip r:embed="rId2"/>
          <a:stretch>
            <a:fillRect/>
          </a:stretch>
        </p:blipFill>
        <p:spPr>
          <a:xfrm>
            <a:off x="5584722" y="137248"/>
            <a:ext cx="4635559" cy="2208811"/>
          </a:xfrm>
          <a:prstGeom prst="rect">
            <a:avLst/>
          </a:prstGeom>
        </p:spPr>
      </p:pic>
      <p:pic>
        <p:nvPicPr>
          <p:cNvPr id="9" name="Picture 8">
            <a:extLst>
              <a:ext uri="{FF2B5EF4-FFF2-40B4-BE49-F238E27FC236}">
                <a16:creationId xmlns:a16="http://schemas.microsoft.com/office/drawing/2014/main" id="{AC60C222-C663-E3BB-94D5-E7461B69076E}"/>
              </a:ext>
            </a:extLst>
          </p:cNvPr>
          <p:cNvPicPr>
            <a:picLocks noChangeAspect="1"/>
          </p:cNvPicPr>
          <p:nvPr/>
        </p:nvPicPr>
        <p:blipFill>
          <a:blip r:embed="rId3"/>
          <a:stretch>
            <a:fillRect/>
          </a:stretch>
        </p:blipFill>
        <p:spPr>
          <a:xfrm>
            <a:off x="7460985" y="2473879"/>
            <a:ext cx="4564526" cy="2158508"/>
          </a:xfrm>
          <a:prstGeom prst="rect">
            <a:avLst/>
          </a:prstGeom>
        </p:spPr>
      </p:pic>
      <p:pic>
        <p:nvPicPr>
          <p:cNvPr id="11" name="Picture 10">
            <a:extLst>
              <a:ext uri="{FF2B5EF4-FFF2-40B4-BE49-F238E27FC236}">
                <a16:creationId xmlns:a16="http://schemas.microsoft.com/office/drawing/2014/main" id="{57A407D6-3970-BDDD-7B97-0538D40CABD4}"/>
              </a:ext>
            </a:extLst>
          </p:cNvPr>
          <p:cNvPicPr>
            <a:picLocks noChangeAspect="1"/>
          </p:cNvPicPr>
          <p:nvPr/>
        </p:nvPicPr>
        <p:blipFill>
          <a:blip r:embed="rId4"/>
          <a:stretch>
            <a:fillRect/>
          </a:stretch>
        </p:blipFill>
        <p:spPr>
          <a:xfrm>
            <a:off x="5950658" y="4760207"/>
            <a:ext cx="4269623" cy="2058762"/>
          </a:xfrm>
          <a:prstGeom prst="rect">
            <a:avLst/>
          </a:prstGeom>
        </p:spPr>
      </p:pic>
      <p:sp>
        <p:nvSpPr>
          <p:cNvPr id="13" name="TextBox 12">
            <a:extLst>
              <a:ext uri="{FF2B5EF4-FFF2-40B4-BE49-F238E27FC236}">
                <a16:creationId xmlns:a16="http://schemas.microsoft.com/office/drawing/2014/main" id="{4D04A302-2E4C-A20F-9F9E-2D8AA0B0E218}"/>
              </a:ext>
            </a:extLst>
          </p:cNvPr>
          <p:cNvSpPr txBox="1"/>
          <p:nvPr/>
        </p:nvSpPr>
        <p:spPr>
          <a:xfrm>
            <a:off x="353961" y="2828835"/>
            <a:ext cx="6096000" cy="1754326"/>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Insights:</a:t>
            </a:r>
          </a:p>
          <a:p>
            <a:pPr algn="l"/>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Those with high performance rating</a:t>
            </a:r>
          </a:p>
          <a:p>
            <a:pPr marL="285750"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Those with no stock options and those with stock option level 3</a:t>
            </a:r>
          </a:p>
          <a:p>
            <a:pPr marL="285750"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Those with the worst work-life balance</a:t>
            </a:r>
            <a:endParaRPr lang="en-NG" dirty="0">
              <a:latin typeface="Calibri" panose="020F0502020204030204" pitchFamily="34" charset="0"/>
              <a:ea typeface="Calibri" panose="020F0502020204030204" pitchFamily="34" charset="0"/>
              <a:cs typeface="Calibri" panose="020F0502020204030204" pitchFamily="34" charset="0"/>
            </a:endParaRPr>
          </a:p>
        </p:txBody>
      </p:sp>
      <p:sp>
        <p:nvSpPr>
          <p:cNvPr id="14" name="Title 1">
            <a:extLst>
              <a:ext uri="{FF2B5EF4-FFF2-40B4-BE49-F238E27FC236}">
                <a16:creationId xmlns:a16="http://schemas.microsoft.com/office/drawing/2014/main" id="{68D978F4-3A0C-AF5F-8DBC-AC76B5E33C69}"/>
              </a:ext>
            </a:extLst>
          </p:cNvPr>
          <p:cNvSpPr txBox="1">
            <a:spLocks noGrp="1"/>
          </p:cNvSpPr>
          <p:nvPr>
            <p:ph type="title"/>
          </p:nvPr>
        </p:nvSpPr>
        <p:spPr>
          <a:xfrm>
            <a:off x="727846" y="1120611"/>
            <a:ext cx="4424257" cy="7284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Rate of Attrition Distribution</a:t>
            </a:r>
            <a:endParaRPr lang="en-NG" sz="28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26768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35F5E1-6F25-F1A5-6E33-2ECD4BAF3032}"/>
              </a:ext>
            </a:extLst>
          </p:cNvPr>
          <p:cNvPicPr>
            <a:picLocks noChangeAspect="1"/>
          </p:cNvPicPr>
          <p:nvPr/>
        </p:nvPicPr>
        <p:blipFill>
          <a:blip r:embed="rId2"/>
          <a:stretch>
            <a:fillRect/>
          </a:stretch>
        </p:blipFill>
        <p:spPr>
          <a:xfrm>
            <a:off x="4782960" y="63910"/>
            <a:ext cx="4576506" cy="2276608"/>
          </a:xfrm>
          <a:prstGeom prst="rect">
            <a:avLst/>
          </a:prstGeom>
        </p:spPr>
      </p:pic>
      <p:pic>
        <p:nvPicPr>
          <p:cNvPr id="7" name="Picture 6">
            <a:extLst>
              <a:ext uri="{FF2B5EF4-FFF2-40B4-BE49-F238E27FC236}">
                <a16:creationId xmlns:a16="http://schemas.microsoft.com/office/drawing/2014/main" id="{9E4B39FD-9636-8766-25BA-E9CE127DA45E}"/>
              </a:ext>
            </a:extLst>
          </p:cNvPr>
          <p:cNvPicPr>
            <a:picLocks noChangeAspect="1"/>
          </p:cNvPicPr>
          <p:nvPr/>
        </p:nvPicPr>
        <p:blipFill>
          <a:blip r:embed="rId3"/>
          <a:stretch>
            <a:fillRect/>
          </a:stretch>
        </p:blipFill>
        <p:spPr>
          <a:xfrm>
            <a:off x="6740422" y="2420827"/>
            <a:ext cx="4576506" cy="2242026"/>
          </a:xfrm>
          <a:prstGeom prst="rect">
            <a:avLst/>
          </a:prstGeom>
        </p:spPr>
      </p:pic>
      <p:pic>
        <p:nvPicPr>
          <p:cNvPr id="9" name="Picture 8">
            <a:extLst>
              <a:ext uri="{FF2B5EF4-FFF2-40B4-BE49-F238E27FC236}">
                <a16:creationId xmlns:a16="http://schemas.microsoft.com/office/drawing/2014/main" id="{DE00E66E-2D2E-CE9F-994A-6131AA6E26F9}"/>
              </a:ext>
            </a:extLst>
          </p:cNvPr>
          <p:cNvPicPr>
            <a:picLocks noChangeAspect="1"/>
          </p:cNvPicPr>
          <p:nvPr/>
        </p:nvPicPr>
        <p:blipFill>
          <a:blip r:embed="rId4"/>
          <a:stretch>
            <a:fillRect/>
          </a:stretch>
        </p:blipFill>
        <p:spPr>
          <a:xfrm>
            <a:off x="4434348" y="4708750"/>
            <a:ext cx="4224425" cy="2085340"/>
          </a:xfrm>
          <a:prstGeom prst="rect">
            <a:avLst/>
          </a:prstGeom>
        </p:spPr>
      </p:pic>
      <p:sp>
        <p:nvSpPr>
          <p:cNvPr id="10" name="TextBox 9">
            <a:extLst>
              <a:ext uri="{FF2B5EF4-FFF2-40B4-BE49-F238E27FC236}">
                <a16:creationId xmlns:a16="http://schemas.microsoft.com/office/drawing/2014/main" id="{1F5C25C9-4CD7-D989-3BCB-933C242DC9DD}"/>
              </a:ext>
            </a:extLst>
          </p:cNvPr>
          <p:cNvSpPr txBox="1"/>
          <p:nvPr/>
        </p:nvSpPr>
        <p:spPr>
          <a:xfrm>
            <a:off x="521110" y="2340518"/>
            <a:ext cx="4129548" cy="2308324"/>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Insights:</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Young adults and seniors respectively tends to exit more </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farther the distance from home, the more they tend to exit</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Staff who low earners category exit more along side with high earners category</a:t>
            </a:r>
            <a:endParaRPr lang="en-NG" dirty="0">
              <a:latin typeface="Calibri" panose="020F0502020204030204" pitchFamily="34" charset="0"/>
              <a:ea typeface="Calibri" panose="020F0502020204030204" pitchFamily="34" charset="0"/>
              <a:cs typeface="Calibri" panose="020F0502020204030204" pitchFamily="34" charset="0"/>
            </a:endParaRPr>
          </a:p>
        </p:txBody>
      </p:sp>
      <p:sp>
        <p:nvSpPr>
          <p:cNvPr id="11" name="Title 1">
            <a:extLst>
              <a:ext uri="{FF2B5EF4-FFF2-40B4-BE49-F238E27FC236}">
                <a16:creationId xmlns:a16="http://schemas.microsoft.com/office/drawing/2014/main" id="{0FF2167C-3366-5C5B-219F-22BA265E174C}"/>
              </a:ext>
            </a:extLst>
          </p:cNvPr>
          <p:cNvSpPr txBox="1">
            <a:spLocks noGrp="1"/>
          </p:cNvSpPr>
          <p:nvPr>
            <p:ph type="title"/>
          </p:nvPr>
        </p:nvSpPr>
        <p:spPr>
          <a:xfrm>
            <a:off x="108413" y="1612106"/>
            <a:ext cx="4424257" cy="7284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Rate of Attrition Distribution</a:t>
            </a:r>
            <a:endParaRPr lang="en-NG" sz="28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83517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DE27A6-7B79-8094-93B2-746265A52C7E}"/>
              </a:ext>
            </a:extLst>
          </p:cNvPr>
          <p:cNvPicPr>
            <a:picLocks noChangeAspect="1"/>
          </p:cNvPicPr>
          <p:nvPr/>
        </p:nvPicPr>
        <p:blipFill>
          <a:blip r:embed="rId2"/>
          <a:stretch>
            <a:fillRect/>
          </a:stretch>
        </p:blipFill>
        <p:spPr>
          <a:xfrm>
            <a:off x="5672671" y="390795"/>
            <a:ext cx="6013484" cy="2987493"/>
          </a:xfrm>
          <a:prstGeom prst="rect">
            <a:avLst/>
          </a:prstGeom>
        </p:spPr>
      </p:pic>
      <p:pic>
        <p:nvPicPr>
          <p:cNvPr id="9" name="Picture 8">
            <a:extLst>
              <a:ext uri="{FF2B5EF4-FFF2-40B4-BE49-F238E27FC236}">
                <a16:creationId xmlns:a16="http://schemas.microsoft.com/office/drawing/2014/main" id="{36606747-DAF1-C738-725C-29366FA0553E}"/>
              </a:ext>
            </a:extLst>
          </p:cNvPr>
          <p:cNvPicPr>
            <a:picLocks noChangeAspect="1"/>
          </p:cNvPicPr>
          <p:nvPr/>
        </p:nvPicPr>
        <p:blipFill>
          <a:blip r:embed="rId3"/>
          <a:stretch>
            <a:fillRect/>
          </a:stretch>
        </p:blipFill>
        <p:spPr>
          <a:xfrm>
            <a:off x="5740429" y="3773129"/>
            <a:ext cx="5945726" cy="2912806"/>
          </a:xfrm>
          <a:prstGeom prst="rect">
            <a:avLst/>
          </a:prstGeom>
        </p:spPr>
      </p:pic>
      <p:sp>
        <p:nvSpPr>
          <p:cNvPr id="10" name="TextBox 9">
            <a:extLst>
              <a:ext uri="{FF2B5EF4-FFF2-40B4-BE49-F238E27FC236}">
                <a16:creationId xmlns:a16="http://schemas.microsoft.com/office/drawing/2014/main" id="{0AF0B04A-93D5-8614-A33F-9813CA35EDBE}"/>
              </a:ext>
            </a:extLst>
          </p:cNvPr>
          <p:cNvSpPr txBox="1"/>
          <p:nvPr/>
        </p:nvSpPr>
        <p:spPr>
          <a:xfrm>
            <a:off x="393290" y="3146323"/>
            <a:ext cx="4129548" cy="1754326"/>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Insights:</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Staffs with more experience tends to exit more</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Staffs who rarely attend trainings are more likely to exit</a:t>
            </a:r>
          </a:p>
          <a:p>
            <a:endParaRPr lang="en-NG" dirty="0">
              <a:latin typeface="Calibri" panose="020F0502020204030204" pitchFamily="34" charset="0"/>
              <a:ea typeface="Calibri" panose="020F0502020204030204" pitchFamily="34" charset="0"/>
              <a:cs typeface="Calibri" panose="020F0502020204030204" pitchFamily="34" charset="0"/>
            </a:endParaRPr>
          </a:p>
        </p:txBody>
      </p:sp>
      <p:sp>
        <p:nvSpPr>
          <p:cNvPr id="11" name="Title 1">
            <a:extLst>
              <a:ext uri="{FF2B5EF4-FFF2-40B4-BE49-F238E27FC236}">
                <a16:creationId xmlns:a16="http://schemas.microsoft.com/office/drawing/2014/main" id="{1B69B73C-7609-7F3C-58A6-5B9954FEBE1F}"/>
              </a:ext>
            </a:extLst>
          </p:cNvPr>
          <p:cNvSpPr txBox="1">
            <a:spLocks noGrp="1"/>
          </p:cNvSpPr>
          <p:nvPr>
            <p:ph type="title"/>
          </p:nvPr>
        </p:nvSpPr>
        <p:spPr>
          <a:xfrm>
            <a:off x="727846" y="1120611"/>
            <a:ext cx="4424257" cy="7284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800" b="1" cap="none"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Rate of Attrition Distribution</a:t>
            </a:r>
            <a:endParaRPr lang="en-NG" sz="28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841871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899C256-B257-9957-85B4-362519C87CF4}"/>
              </a:ext>
            </a:extLst>
          </p:cNvPr>
          <p:cNvSpPr txBox="1">
            <a:spLocks noGrp="1"/>
          </p:cNvSpPr>
          <p:nvPr>
            <p:ph type="title"/>
          </p:nvPr>
        </p:nvSpPr>
        <p:spPr>
          <a:xfrm>
            <a:off x="1093968" y="3051687"/>
            <a:ext cx="5945929" cy="75462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3200" b="1" cap="none"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Numeric and Bivariate Analysis</a:t>
            </a:r>
            <a:endParaRPr lang="en-NG" sz="32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952295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745E69-313A-390F-2304-A72C6D058032}"/>
              </a:ext>
            </a:extLst>
          </p:cNvPr>
          <p:cNvSpPr>
            <a:spLocks noGrp="1"/>
          </p:cNvSpPr>
          <p:nvPr>
            <p:ph sz="quarter" idx="13"/>
          </p:nvPr>
        </p:nvSpPr>
        <p:spPr>
          <a:xfrm>
            <a:off x="68826" y="3188272"/>
            <a:ext cx="2830604" cy="1998431"/>
          </a:xfrm>
        </p:spPr>
        <p:txBody>
          <a:bodyPr>
            <a:norm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cap="none" dirty="0">
              <a:latin typeface="Calibri" panose="020F0502020204030204" pitchFamily="34" charset="0"/>
              <a:ea typeface="Calibri" panose="020F0502020204030204" pitchFamily="34" charset="0"/>
              <a:cs typeface="Calibri" panose="020F0502020204030204" pitchFamily="34" charset="0"/>
            </a:endParaRPr>
          </a:p>
          <a:p>
            <a:r>
              <a:rPr lang="en-US" sz="1800" cap="none" dirty="0">
                <a:latin typeface="Calibri" panose="020F0502020204030204" pitchFamily="34" charset="0"/>
                <a:ea typeface="Calibri" panose="020F0502020204030204" pitchFamily="34" charset="0"/>
                <a:cs typeface="Calibri" panose="020F0502020204030204" pitchFamily="34" charset="0"/>
              </a:rPr>
              <a:t>The distribution of the numerical features are not are strongly skewed</a:t>
            </a:r>
          </a:p>
          <a:p>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5412B774-87B2-F3A1-56F9-3D0333504D66}"/>
              </a:ext>
            </a:extLst>
          </p:cNvPr>
          <p:cNvPicPr>
            <a:picLocks noChangeAspect="1"/>
          </p:cNvPicPr>
          <p:nvPr/>
        </p:nvPicPr>
        <p:blipFill>
          <a:blip r:embed="rId2"/>
          <a:stretch>
            <a:fillRect/>
          </a:stretch>
        </p:blipFill>
        <p:spPr>
          <a:xfrm>
            <a:off x="7562776" y="526351"/>
            <a:ext cx="4760546" cy="5323843"/>
          </a:xfrm>
          <a:prstGeom prst="rect">
            <a:avLst/>
          </a:prstGeom>
        </p:spPr>
      </p:pic>
      <p:pic>
        <p:nvPicPr>
          <p:cNvPr id="7" name="Picture 6">
            <a:extLst>
              <a:ext uri="{FF2B5EF4-FFF2-40B4-BE49-F238E27FC236}">
                <a16:creationId xmlns:a16="http://schemas.microsoft.com/office/drawing/2014/main" id="{E3EB75CA-A60D-6835-34A9-0B30F01422A9}"/>
              </a:ext>
            </a:extLst>
          </p:cNvPr>
          <p:cNvPicPr>
            <a:picLocks noChangeAspect="1"/>
          </p:cNvPicPr>
          <p:nvPr/>
        </p:nvPicPr>
        <p:blipFill>
          <a:blip r:embed="rId3"/>
          <a:stretch>
            <a:fillRect/>
          </a:stretch>
        </p:blipFill>
        <p:spPr>
          <a:xfrm>
            <a:off x="2991680" y="785453"/>
            <a:ext cx="4478846" cy="5064741"/>
          </a:xfrm>
          <a:prstGeom prst="rect">
            <a:avLst/>
          </a:prstGeom>
        </p:spPr>
      </p:pic>
    </p:spTree>
    <p:extLst>
      <p:ext uri="{BB962C8B-B14F-4D97-AF65-F5344CB8AC3E}">
        <p14:creationId xmlns:p14="http://schemas.microsoft.com/office/powerpoint/2010/main" val="329551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A484E0-F2B1-D77C-6ADA-88A1CE1A458C}"/>
              </a:ext>
            </a:extLst>
          </p:cNvPr>
          <p:cNvSpPr>
            <a:spLocks noGrp="1"/>
          </p:cNvSpPr>
          <p:nvPr>
            <p:ph sz="quarter" idx="13"/>
          </p:nvPr>
        </p:nvSpPr>
        <p:spPr>
          <a:xfrm>
            <a:off x="343502" y="2892325"/>
            <a:ext cx="3481245" cy="3508476"/>
          </a:xfrm>
        </p:spPr>
        <p:txBody>
          <a:bodyPr>
            <a:norm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cap="none" dirty="0">
              <a:latin typeface="Calibri" panose="020F0502020204030204" pitchFamily="34" charset="0"/>
              <a:ea typeface="Calibri" panose="020F0502020204030204" pitchFamily="34" charset="0"/>
              <a:cs typeface="Calibri" panose="020F0502020204030204" pitchFamily="34" charset="0"/>
            </a:endParaRPr>
          </a:p>
          <a:p>
            <a:r>
              <a:rPr lang="en-US" sz="1800" cap="none" dirty="0">
                <a:latin typeface="Calibri" panose="020F0502020204030204" pitchFamily="34" charset="0"/>
                <a:ea typeface="Calibri" panose="020F0502020204030204" pitchFamily="34" charset="0"/>
                <a:cs typeface="Calibri" panose="020F0502020204030204" pitchFamily="34" charset="0"/>
              </a:rPr>
              <a:t>Correlation plot of hourly rate and daily rate shows no  relationships between </a:t>
            </a:r>
            <a:r>
              <a:rPr lang="en-US" sz="1800" cap="none" dirty="0" err="1">
                <a:latin typeface="Calibri" panose="020F0502020204030204" pitchFamily="34" charset="0"/>
                <a:ea typeface="Calibri" panose="020F0502020204030204" pitchFamily="34" charset="0"/>
                <a:cs typeface="Calibri" panose="020F0502020204030204" pitchFamily="34" charset="0"/>
              </a:rPr>
              <a:t>between</a:t>
            </a:r>
            <a:r>
              <a:rPr lang="en-US" sz="1800" cap="none" dirty="0">
                <a:latin typeface="Calibri" panose="020F0502020204030204" pitchFamily="34" charset="0"/>
                <a:ea typeface="Calibri" panose="020F0502020204030204" pitchFamily="34" charset="0"/>
                <a:cs typeface="Calibri" panose="020F0502020204030204" pitchFamily="34" charset="0"/>
              </a:rPr>
              <a:t> them</a:t>
            </a:r>
          </a:p>
          <a:p>
            <a:r>
              <a:rPr lang="en-US" sz="1800" cap="none" dirty="0">
                <a:latin typeface="Calibri" panose="020F0502020204030204" pitchFamily="34" charset="0"/>
                <a:ea typeface="Calibri" panose="020F0502020204030204" pitchFamily="34" charset="0"/>
                <a:cs typeface="Calibri" panose="020F0502020204030204" pitchFamily="34" charset="0"/>
              </a:rPr>
              <a:t>This can also be seen between monthly income and monthly rate as well as hourly rate and monthly income</a:t>
            </a:r>
          </a:p>
          <a:p>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4262AD31-4393-A88D-2C3A-43A7DDC1CD70}"/>
              </a:ext>
            </a:extLst>
          </p:cNvPr>
          <p:cNvPicPr>
            <a:picLocks noChangeAspect="1"/>
          </p:cNvPicPr>
          <p:nvPr/>
        </p:nvPicPr>
        <p:blipFill>
          <a:blip r:embed="rId2"/>
          <a:stretch>
            <a:fillRect/>
          </a:stretch>
        </p:blipFill>
        <p:spPr>
          <a:xfrm>
            <a:off x="8462934" y="194186"/>
            <a:ext cx="3306279" cy="3306279"/>
          </a:xfrm>
          <a:prstGeom prst="rect">
            <a:avLst/>
          </a:prstGeom>
        </p:spPr>
      </p:pic>
      <p:pic>
        <p:nvPicPr>
          <p:cNvPr id="7" name="Picture 6">
            <a:extLst>
              <a:ext uri="{FF2B5EF4-FFF2-40B4-BE49-F238E27FC236}">
                <a16:creationId xmlns:a16="http://schemas.microsoft.com/office/drawing/2014/main" id="{07FED6F3-D7CD-3256-1B2C-AA188AB4EA72}"/>
              </a:ext>
            </a:extLst>
          </p:cNvPr>
          <p:cNvPicPr>
            <a:picLocks noChangeAspect="1"/>
          </p:cNvPicPr>
          <p:nvPr/>
        </p:nvPicPr>
        <p:blipFill>
          <a:blip r:embed="rId3"/>
          <a:stretch>
            <a:fillRect/>
          </a:stretch>
        </p:blipFill>
        <p:spPr>
          <a:xfrm>
            <a:off x="4796115" y="304195"/>
            <a:ext cx="3306279" cy="3259334"/>
          </a:xfrm>
          <a:prstGeom prst="rect">
            <a:avLst/>
          </a:prstGeom>
        </p:spPr>
      </p:pic>
      <p:pic>
        <p:nvPicPr>
          <p:cNvPr id="9" name="Picture 8">
            <a:extLst>
              <a:ext uri="{FF2B5EF4-FFF2-40B4-BE49-F238E27FC236}">
                <a16:creationId xmlns:a16="http://schemas.microsoft.com/office/drawing/2014/main" id="{754F8945-2FDB-5E30-C50C-3099C8A58E14}"/>
              </a:ext>
            </a:extLst>
          </p:cNvPr>
          <p:cNvPicPr>
            <a:picLocks noChangeAspect="1"/>
          </p:cNvPicPr>
          <p:nvPr/>
        </p:nvPicPr>
        <p:blipFill>
          <a:blip r:embed="rId4"/>
          <a:stretch>
            <a:fillRect/>
          </a:stretch>
        </p:blipFill>
        <p:spPr>
          <a:xfrm>
            <a:off x="6351945" y="3678133"/>
            <a:ext cx="3149762" cy="3054507"/>
          </a:xfrm>
          <a:prstGeom prst="rect">
            <a:avLst/>
          </a:prstGeom>
        </p:spPr>
      </p:pic>
    </p:spTree>
    <p:extLst>
      <p:ext uri="{BB962C8B-B14F-4D97-AF65-F5344CB8AC3E}">
        <p14:creationId xmlns:p14="http://schemas.microsoft.com/office/powerpoint/2010/main" val="2773166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23187-7A19-2256-6A8B-C4F609C234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20B5DB-EC3D-11FB-C38D-ADD0AFA71234}"/>
              </a:ext>
            </a:extLst>
          </p:cNvPr>
          <p:cNvSpPr>
            <a:spLocks noGrp="1"/>
          </p:cNvSpPr>
          <p:nvPr>
            <p:ph sz="quarter" idx="13"/>
          </p:nvPr>
        </p:nvSpPr>
        <p:spPr>
          <a:xfrm>
            <a:off x="181090" y="1104474"/>
            <a:ext cx="3695313" cy="5753526"/>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b="0" i="0" cap="none" dirty="0">
              <a:effectLst/>
              <a:latin typeface="Calibri" panose="020F0502020204030204" pitchFamily="34" charset="0"/>
              <a:ea typeface="Calibri" panose="020F0502020204030204" pitchFamily="34" charset="0"/>
              <a:cs typeface="Calibri" panose="020F0502020204030204" pitchFamily="34" charset="0"/>
            </a:endParaRPr>
          </a:p>
          <a:p>
            <a:r>
              <a:rPr lang="en-US" sz="1800" b="0" i="0" cap="none" dirty="0">
                <a:effectLst/>
                <a:latin typeface="Calibri" panose="020F0502020204030204" pitchFamily="34" charset="0"/>
                <a:ea typeface="Calibri" panose="020F0502020204030204" pitchFamily="34" charset="0"/>
                <a:cs typeface="Calibri" panose="020F0502020204030204" pitchFamily="34" charset="0"/>
              </a:rPr>
              <a:t>50% of people that leave do not attend more than 2 training sessions which is ~30 fewer than those who remain</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Younger staffs tend to leave more than older ones</a:t>
            </a:r>
          </a:p>
          <a:p>
            <a:r>
              <a:rPr lang="en-US" sz="1800" b="0" i="0" cap="none" dirty="0">
                <a:effectLst/>
                <a:latin typeface="Calibri" panose="020F0502020204030204" pitchFamily="34" charset="0"/>
                <a:ea typeface="Calibri" panose="020F0502020204030204" pitchFamily="34" charset="0"/>
                <a:cs typeface="Calibri" panose="020F0502020204030204" pitchFamily="34" charset="0"/>
              </a:rPr>
              <a:t>Half the staff existing have no stock options</a:t>
            </a:r>
          </a:p>
          <a:p>
            <a:r>
              <a:rPr lang="en-US" sz="1800" b="0" i="0" cap="none" dirty="0">
                <a:effectLst/>
                <a:latin typeface="Calibri" panose="020F0502020204030204" pitchFamily="34" charset="0"/>
                <a:ea typeface="Calibri" panose="020F0502020204030204" pitchFamily="34" charset="0"/>
                <a:cs typeface="Calibri" panose="020F0502020204030204" pitchFamily="34" charset="0"/>
              </a:rPr>
              <a:t>25% of existed staffs have only worked for 3 years (50% fewer than those that stayed) while 75% of them account for not more than 10 years (38% fewer than those that stayed)</a:t>
            </a:r>
          </a:p>
          <a:p>
            <a:endParaRPr lang="en-US" sz="1800" b="0" i="0" cap="none" dirty="0">
              <a:effectLst/>
              <a:latin typeface="Calibri" panose="020F0502020204030204" pitchFamily="34" charset="0"/>
              <a:ea typeface="Calibri" panose="020F0502020204030204" pitchFamily="34" charset="0"/>
              <a:cs typeface="Calibri" panose="020F0502020204030204" pitchFamily="34" charset="0"/>
            </a:endParaRPr>
          </a:p>
          <a:p>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32014EAB-EB8A-9919-A8B8-05066549CBAF}"/>
              </a:ext>
            </a:extLst>
          </p:cNvPr>
          <p:cNvPicPr>
            <a:picLocks noChangeAspect="1"/>
          </p:cNvPicPr>
          <p:nvPr/>
        </p:nvPicPr>
        <p:blipFill>
          <a:blip r:embed="rId2"/>
          <a:stretch>
            <a:fillRect/>
          </a:stretch>
        </p:blipFill>
        <p:spPr>
          <a:xfrm>
            <a:off x="8499180" y="0"/>
            <a:ext cx="3511730" cy="3359323"/>
          </a:xfrm>
          <a:prstGeom prst="rect">
            <a:avLst/>
          </a:prstGeom>
        </p:spPr>
      </p:pic>
      <p:pic>
        <p:nvPicPr>
          <p:cNvPr id="6" name="Picture 5">
            <a:extLst>
              <a:ext uri="{FF2B5EF4-FFF2-40B4-BE49-F238E27FC236}">
                <a16:creationId xmlns:a16="http://schemas.microsoft.com/office/drawing/2014/main" id="{E395C44E-0492-1E5C-1672-24E5A7F08497}"/>
              </a:ext>
            </a:extLst>
          </p:cNvPr>
          <p:cNvPicPr>
            <a:picLocks noChangeAspect="1"/>
          </p:cNvPicPr>
          <p:nvPr/>
        </p:nvPicPr>
        <p:blipFill>
          <a:blip r:embed="rId3"/>
          <a:stretch>
            <a:fillRect/>
          </a:stretch>
        </p:blipFill>
        <p:spPr>
          <a:xfrm>
            <a:off x="8429326" y="3574881"/>
            <a:ext cx="3581584" cy="3283119"/>
          </a:xfrm>
          <a:prstGeom prst="rect">
            <a:avLst/>
          </a:prstGeom>
        </p:spPr>
      </p:pic>
      <p:pic>
        <p:nvPicPr>
          <p:cNvPr id="8" name="Picture 7">
            <a:extLst>
              <a:ext uri="{FF2B5EF4-FFF2-40B4-BE49-F238E27FC236}">
                <a16:creationId xmlns:a16="http://schemas.microsoft.com/office/drawing/2014/main" id="{ABCC20DC-646B-8267-2FE9-802109C515F9}"/>
              </a:ext>
            </a:extLst>
          </p:cNvPr>
          <p:cNvPicPr>
            <a:picLocks noChangeAspect="1"/>
          </p:cNvPicPr>
          <p:nvPr/>
        </p:nvPicPr>
        <p:blipFill>
          <a:blip r:embed="rId4"/>
          <a:stretch>
            <a:fillRect/>
          </a:stretch>
        </p:blipFill>
        <p:spPr>
          <a:xfrm>
            <a:off x="4609087" y="38102"/>
            <a:ext cx="3524431" cy="3321221"/>
          </a:xfrm>
          <a:prstGeom prst="rect">
            <a:avLst/>
          </a:prstGeom>
        </p:spPr>
      </p:pic>
      <p:pic>
        <p:nvPicPr>
          <p:cNvPr id="10" name="Picture 9">
            <a:extLst>
              <a:ext uri="{FF2B5EF4-FFF2-40B4-BE49-F238E27FC236}">
                <a16:creationId xmlns:a16="http://schemas.microsoft.com/office/drawing/2014/main" id="{B1DC8111-B180-A47B-F2FF-35D697CD894D}"/>
              </a:ext>
            </a:extLst>
          </p:cNvPr>
          <p:cNvPicPr>
            <a:picLocks noChangeAspect="1"/>
          </p:cNvPicPr>
          <p:nvPr/>
        </p:nvPicPr>
        <p:blipFill>
          <a:blip r:embed="rId5"/>
          <a:stretch>
            <a:fillRect/>
          </a:stretch>
        </p:blipFill>
        <p:spPr>
          <a:xfrm>
            <a:off x="4704235" y="3632033"/>
            <a:ext cx="3530781" cy="3168813"/>
          </a:xfrm>
          <a:prstGeom prst="rect">
            <a:avLst/>
          </a:prstGeom>
        </p:spPr>
      </p:pic>
    </p:spTree>
    <p:extLst>
      <p:ext uri="{BB962C8B-B14F-4D97-AF65-F5344CB8AC3E}">
        <p14:creationId xmlns:p14="http://schemas.microsoft.com/office/powerpoint/2010/main" val="3046530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30811-995E-460D-6C16-EFB8C91F66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C94E1C-D0AE-AE6B-F538-FF44517E1443}"/>
              </a:ext>
            </a:extLst>
          </p:cNvPr>
          <p:cNvSpPr>
            <a:spLocks noGrp="1"/>
          </p:cNvSpPr>
          <p:nvPr>
            <p:ph sz="quarter" idx="13"/>
          </p:nvPr>
        </p:nvSpPr>
        <p:spPr>
          <a:xfrm>
            <a:off x="151377" y="-87135"/>
            <a:ext cx="4738859" cy="6945135"/>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b="0" i="0" cap="none"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The average monthly income of staff who leave the company is ~38% lower than that of retained staff at ~4787.09%. While 75% of them earn ~5916.0($) which is slightly above mean monthly salary of retained staffs ~5204.0. Hence, low salary is one of the reasons for attrition</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Half of the people who leave the company spend 3 years. Half of the staff thereby spend 50% fewer years at the company</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Half of the staff cover 29% more travel time/distance to get work. They are people that come from father distances</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25% of staffs that leave do not spend up to 1 year in their current role. While of staffs that leave do not stay for more than 2 years in their current role. These means that staffs desire for growth/promotion</a:t>
            </a:r>
          </a:p>
          <a:p>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89584DA7-2771-7076-1945-120301EA407B}"/>
              </a:ext>
            </a:extLst>
          </p:cNvPr>
          <p:cNvPicPr>
            <a:picLocks noChangeAspect="1"/>
          </p:cNvPicPr>
          <p:nvPr/>
        </p:nvPicPr>
        <p:blipFill>
          <a:blip r:embed="rId2"/>
          <a:stretch>
            <a:fillRect/>
          </a:stretch>
        </p:blipFill>
        <p:spPr>
          <a:xfrm>
            <a:off x="8488342" y="64297"/>
            <a:ext cx="3552280" cy="3265412"/>
          </a:xfrm>
          <a:prstGeom prst="rect">
            <a:avLst/>
          </a:prstGeom>
        </p:spPr>
      </p:pic>
      <p:pic>
        <p:nvPicPr>
          <p:cNvPr id="6" name="Picture 5">
            <a:extLst>
              <a:ext uri="{FF2B5EF4-FFF2-40B4-BE49-F238E27FC236}">
                <a16:creationId xmlns:a16="http://schemas.microsoft.com/office/drawing/2014/main" id="{B1423DFC-29CE-2C5D-0691-913A7C24E914}"/>
              </a:ext>
            </a:extLst>
          </p:cNvPr>
          <p:cNvPicPr>
            <a:picLocks noChangeAspect="1"/>
          </p:cNvPicPr>
          <p:nvPr/>
        </p:nvPicPr>
        <p:blipFill>
          <a:blip r:embed="rId3"/>
          <a:stretch>
            <a:fillRect/>
          </a:stretch>
        </p:blipFill>
        <p:spPr>
          <a:xfrm>
            <a:off x="8684752" y="3528291"/>
            <a:ext cx="3434313" cy="3265412"/>
          </a:xfrm>
          <a:prstGeom prst="rect">
            <a:avLst/>
          </a:prstGeom>
        </p:spPr>
      </p:pic>
      <p:pic>
        <p:nvPicPr>
          <p:cNvPr id="8" name="Picture 7">
            <a:extLst>
              <a:ext uri="{FF2B5EF4-FFF2-40B4-BE49-F238E27FC236}">
                <a16:creationId xmlns:a16="http://schemas.microsoft.com/office/drawing/2014/main" id="{87BD1A91-C847-D22A-8E7E-3A69DD30428E}"/>
              </a:ext>
            </a:extLst>
          </p:cNvPr>
          <p:cNvPicPr>
            <a:picLocks noChangeAspect="1"/>
          </p:cNvPicPr>
          <p:nvPr/>
        </p:nvPicPr>
        <p:blipFill>
          <a:blip r:embed="rId4"/>
          <a:stretch>
            <a:fillRect/>
          </a:stretch>
        </p:blipFill>
        <p:spPr>
          <a:xfrm>
            <a:off x="4890237" y="-17454"/>
            <a:ext cx="3329027" cy="3545745"/>
          </a:xfrm>
          <a:prstGeom prst="rect">
            <a:avLst/>
          </a:prstGeom>
        </p:spPr>
      </p:pic>
      <p:pic>
        <p:nvPicPr>
          <p:cNvPr id="10" name="Picture 9">
            <a:extLst>
              <a:ext uri="{FF2B5EF4-FFF2-40B4-BE49-F238E27FC236}">
                <a16:creationId xmlns:a16="http://schemas.microsoft.com/office/drawing/2014/main" id="{A1C70986-4246-3266-2492-5CD11974D295}"/>
              </a:ext>
            </a:extLst>
          </p:cNvPr>
          <p:cNvPicPr>
            <a:picLocks noChangeAspect="1"/>
          </p:cNvPicPr>
          <p:nvPr/>
        </p:nvPicPr>
        <p:blipFill>
          <a:blip r:embed="rId5"/>
          <a:stretch>
            <a:fillRect/>
          </a:stretch>
        </p:blipFill>
        <p:spPr>
          <a:xfrm>
            <a:off x="4988442" y="3643335"/>
            <a:ext cx="3329027" cy="3150368"/>
          </a:xfrm>
          <a:prstGeom prst="rect">
            <a:avLst/>
          </a:prstGeom>
        </p:spPr>
      </p:pic>
    </p:spTree>
    <p:extLst>
      <p:ext uri="{BB962C8B-B14F-4D97-AF65-F5344CB8AC3E}">
        <p14:creationId xmlns:p14="http://schemas.microsoft.com/office/powerpoint/2010/main" val="28628366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C1C2A-6163-FC3B-A2DD-8E56A4DE42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69302F-44E6-9D18-9ED0-BA6FBEF86A26}"/>
              </a:ext>
            </a:extLst>
          </p:cNvPr>
          <p:cNvSpPr>
            <a:spLocks noGrp="1"/>
          </p:cNvSpPr>
          <p:nvPr>
            <p:ph sz="quarter" idx="13"/>
          </p:nvPr>
        </p:nvSpPr>
        <p:spPr>
          <a:xfrm>
            <a:off x="102239" y="1595270"/>
            <a:ext cx="3232822" cy="5188989"/>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cap="none" dirty="0">
              <a:latin typeface="Calibri" panose="020F0502020204030204" pitchFamily="34" charset="0"/>
              <a:ea typeface="Calibri" panose="020F0502020204030204" pitchFamily="34" charset="0"/>
              <a:cs typeface="Calibri" panose="020F0502020204030204" pitchFamily="34" charset="0"/>
            </a:endParaRPr>
          </a:p>
          <a:p>
            <a:r>
              <a:rPr lang="en-US" sz="1800" cap="none" dirty="0">
                <a:latin typeface="Calibri" panose="020F0502020204030204" pitchFamily="34" charset="0"/>
                <a:ea typeface="Calibri" panose="020F0502020204030204" pitchFamily="34" charset="0"/>
                <a:cs typeface="Calibri" panose="020F0502020204030204" pitchFamily="34" charset="0"/>
              </a:rPr>
              <a:t>KDE plot of monthly income also show that most staffs that exit are low earners</a:t>
            </a:r>
          </a:p>
          <a:p>
            <a:r>
              <a:rPr lang="en-US" sz="1800" cap="none" dirty="0">
                <a:latin typeface="Calibri" panose="020F0502020204030204" pitchFamily="34" charset="0"/>
                <a:ea typeface="Calibri" panose="020F0502020204030204" pitchFamily="34" charset="0"/>
                <a:cs typeface="Calibri" panose="020F0502020204030204" pitchFamily="34" charset="0"/>
              </a:rPr>
              <a:t>Tenure plot also show that about 75% of exiting staffs do not stay for more than 10 years</a:t>
            </a:r>
          </a:p>
          <a:p>
            <a:r>
              <a:rPr lang="en-US" sz="1800" cap="none" dirty="0">
                <a:latin typeface="Calibri" panose="020F0502020204030204" pitchFamily="34" charset="0"/>
                <a:ea typeface="Calibri" panose="020F0502020204030204" pitchFamily="34" charset="0"/>
                <a:cs typeface="Calibri" panose="020F0502020204030204" pitchFamily="34" charset="0"/>
              </a:rPr>
              <a:t>While work experience distribution shows that company tends to hire more of fresh graduate and majority of exiting staff are from that category as well</a:t>
            </a:r>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3946745A-D5FC-BBC9-D737-A0173568EF2A}"/>
              </a:ext>
            </a:extLst>
          </p:cNvPr>
          <p:cNvPicPr>
            <a:picLocks noChangeAspect="1"/>
          </p:cNvPicPr>
          <p:nvPr/>
        </p:nvPicPr>
        <p:blipFill>
          <a:blip r:embed="rId2"/>
          <a:stretch>
            <a:fillRect/>
          </a:stretch>
        </p:blipFill>
        <p:spPr>
          <a:xfrm>
            <a:off x="3952567" y="61081"/>
            <a:ext cx="4389105" cy="2899293"/>
          </a:xfrm>
          <a:prstGeom prst="rect">
            <a:avLst/>
          </a:prstGeom>
        </p:spPr>
      </p:pic>
      <p:pic>
        <p:nvPicPr>
          <p:cNvPr id="6" name="Picture 5">
            <a:extLst>
              <a:ext uri="{FF2B5EF4-FFF2-40B4-BE49-F238E27FC236}">
                <a16:creationId xmlns:a16="http://schemas.microsoft.com/office/drawing/2014/main" id="{56CD3C0F-9027-F3B7-47E8-7659488564C3}"/>
              </a:ext>
            </a:extLst>
          </p:cNvPr>
          <p:cNvPicPr>
            <a:picLocks noChangeAspect="1"/>
          </p:cNvPicPr>
          <p:nvPr/>
        </p:nvPicPr>
        <p:blipFill>
          <a:blip r:embed="rId3"/>
          <a:stretch>
            <a:fillRect/>
          </a:stretch>
        </p:blipFill>
        <p:spPr>
          <a:xfrm>
            <a:off x="7724597" y="2789902"/>
            <a:ext cx="4467403" cy="3001297"/>
          </a:xfrm>
          <a:prstGeom prst="rect">
            <a:avLst/>
          </a:prstGeom>
        </p:spPr>
      </p:pic>
      <p:pic>
        <p:nvPicPr>
          <p:cNvPr id="8" name="Picture 7">
            <a:extLst>
              <a:ext uri="{FF2B5EF4-FFF2-40B4-BE49-F238E27FC236}">
                <a16:creationId xmlns:a16="http://schemas.microsoft.com/office/drawing/2014/main" id="{1ACE5C8C-0C28-CA73-25AE-7947514DFFD9}"/>
              </a:ext>
            </a:extLst>
          </p:cNvPr>
          <p:cNvPicPr>
            <a:picLocks noChangeAspect="1"/>
          </p:cNvPicPr>
          <p:nvPr/>
        </p:nvPicPr>
        <p:blipFill>
          <a:blip r:embed="rId4"/>
          <a:stretch>
            <a:fillRect/>
          </a:stretch>
        </p:blipFill>
        <p:spPr>
          <a:xfrm>
            <a:off x="3530306" y="3897627"/>
            <a:ext cx="4194291" cy="2768645"/>
          </a:xfrm>
          <a:prstGeom prst="rect">
            <a:avLst/>
          </a:prstGeom>
        </p:spPr>
      </p:pic>
    </p:spTree>
    <p:extLst>
      <p:ext uri="{BB962C8B-B14F-4D97-AF65-F5344CB8AC3E}">
        <p14:creationId xmlns:p14="http://schemas.microsoft.com/office/powerpoint/2010/main" val="31769323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11A30-062D-7998-0516-3E63CC0448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E3D42F-C528-4B30-68FC-470EDC3D5496}"/>
              </a:ext>
            </a:extLst>
          </p:cNvPr>
          <p:cNvSpPr>
            <a:spLocks noGrp="1"/>
          </p:cNvSpPr>
          <p:nvPr>
            <p:ph sz="quarter" idx="13"/>
          </p:nvPr>
        </p:nvSpPr>
        <p:spPr>
          <a:xfrm>
            <a:off x="157316" y="2367093"/>
            <a:ext cx="3883742" cy="1959102"/>
          </a:xfrm>
        </p:spPr>
        <p:txBody>
          <a:bodyPr>
            <a:normAutofit/>
          </a:bodyPr>
          <a:lstStyle/>
          <a:p>
            <a:pPr marL="0" indent="0">
              <a:buNone/>
            </a:pPr>
            <a:r>
              <a:rPr lang="en-US" sz="2000" b="1" cap="none" dirty="0">
                <a:latin typeface="Calibri" panose="020F0502020204030204" pitchFamily="34" charset="0"/>
                <a:ea typeface="Calibri" panose="020F0502020204030204" pitchFamily="34" charset="0"/>
                <a:cs typeface="Calibri" panose="020F0502020204030204" pitchFamily="34" charset="0"/>
              </a:rPr>
              <a:t>Insights:</a:t>
            </a:r>
            <a:endParaRPr lang="en-US" cap="none" dirty="0">
              <a:latin typeface="Calibri" panose="020F0502020204030204" pitchFamily="34" charset="0"/>
              <a:ea typeface="Calibri" panose="020F0502020204030204" pitchFamily="34" charset="0"/>
              <a:cs typeface="Calibri" panose="020F0502020204030204" pitchFamily="34" charset="0"/>
            </a:endParaRPr>
          </a:p>
          <a:p>
            <a:r>
              <a:rPr lang="en-US" cap="none" dirty="0">
                <a:latin typeface="Calibri" panose="020F0502020204030204" pitchFamily="34" charset="0"/>
                <a:ea typeface="Calibri" panose="020F0502020204030204" pitchFamily="34" charset="0"/>
                <a:cs typeface="Calibri" panose="020F0502020204030204" pitchFamily="34" charset="0"/>
              </a:rPr>
              <a:t>Plot shows that about 22% of staffs that have left are low earners followed by high earners.</a:t>
            </a:r>
          </a:p>
        </p:txBody>
      </p:sp>
      <p:pic>
        <p:nvPicPr>
          <p:cNvPr id="4" name="Picture 3">
            <a:extLst>
              <a:ext uri="{FF2B5EF4-FFF2-40B4-BE49-F238E27FC236}">
                <a16:creationId xmlns:a16="http://schemas.microsoft.com/office/drawing/2014/main" id="{7571B1C0-F0BC-9EC2-89FE-7ABD39B34C8B}"/>
              </a:ext>
            </a:extLst>
          </p:cNvPr>
          <p:cNvPicPr>
            <a:picLocks noChangeAspect="1"/>
          </p:cNvPicPr>
          <p:nvPr/>
        </p:nvPicPr>
        <p:blipFill>
          <a:blip r:embed="rId2"/>
          <a:stretch>
            <a:fillRect/>
          </a:stretch>
        </p:blipFill>
        <p:spPr>
          <a:xfrm>
            <a:off x="4725800" y="1110640"/>
            <a:ext cx="7021537" cy="5044354"/>
          </a:xfrm>
          <a:prstGeom prst="rect">
            <a:avLst/>
          </a:prstGeom>
        </p:spPr>
      </p:pic>
    </p:spTree>
    <p:extLst>
      <p:ext uri="{BB962C8B-B14F-4D97-AF65-F5344CB8AC3E}">
        <p14:creationId xmlns:p14="http://schemas.microsoft.com/office/powerpoint/2010/main" val="582829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FEB6FF6-E619-952C-BC2F-288318095BCA}"/>
              </a:ext>
            </a:extLst>
          </p:cNvPr>
          <p:cNvSpPr txBox="1">
            <a:spLocks/>
          </p:cNvSpPr>
          <p:nvPr/>
        </p:nvSpPr>
        <p:spPr>
          <a:xfrm>
            <a:off x="1162794" y="3041855"/>
            <a:ext cx="4284277" cy="7742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3200" b="1" cap="none"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Multivariate Analysis</a:t>
            </a:r>
            <a:endParaRPr lang="en-NG" sz="32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37533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74FEA-A5EC-9179-C2B5-6D2A76EA581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CD72BE-F04F-C2E6-3407-633A7B2A823D}"/>
              </a:ext>
            </a:extLst>
          </p:cNvPr>
          <p:cNvSpPr>
            <a:spLocks noGrp="1"/>
          </p:cNvSpPr>
          <p:nvPr>
            <p:ph sz="quarter" idx="13"/>
          </p:nvPr>
        </p:nvSpPr>
        <p:spPr>
          <a:xfrm>
            <a:off x="215684" y="2140950"/>
            <a:ext cx="4010064" cy="3551928"/>
          </a:xfrm>
        </p:spPr>
        <p:txBody>
          <a:bodyPr>
            <a:norm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cap="none" dirty="0">
              <a:latin typeface="Calibri" panose="020F0502020204030204" pitchFamily="34" charset="0"/>
              <a:ea typeface="Calibri" panose="020F0502020204030204" pitchFamily="34" charset="0"/>
              <a:cs typeface="Calibri" panose="020F0502020204030204" pitchFamily="34" charset="0"/>
            </a:endParaRPr>
          </a:p>
          <a:p>
            <a:r>
              <a:rPr lang="en-US" sz="1800" cap="none" dirty="0">
                <a:latin typeface="Calibri" panose="020F0502020204030204" pitchFamily="34" charset="0"/>
                <a:ea typeface="Calibri" panose="020F0502020204030204" pitchFamily="34" charset="0"/>
                <a:cs typeface="Calibri" panose="020F0502020204030204" pitchFamily="34" charset="0"/>
              </a:rPr>
              <a:t>Heatmap showing the relationships between each numerical features</a:t>
            </a:r>
          </a:p>
          <a:p>
            <a:r>
              <a:rPr lang="en-US" sz="1800" cap="none" dirty="0">
                <a:latin typeface="Calibri" panose="020F0502020204030204" pitchFamily="34" charset="0"/>
                <a:ea typeface="Calibri" panose="020F0502020204030204" pitchFamily="34" charset="0"/>
                <a:cs typeface="Calibri" panose="020F0502020204030204" pitchFamily="34" charset="0"/>
              </a:rPr>
              <a:t>As age increases so does total working years and monthly income</a:t>
            </a:r>
          </a:p>
          <a:p>
            <a:r>
              <a:rPr lang="en-US" sz="1800" cap="none" dirty="0">
                <a:latin typeface="Calibri" panose="020F0502020204030204" pitchFamily="34" charset="0"/>
                <a:ea typeface="Calibri" panose="020F0502020204030204" pitchFamily="34" charset="0"/>
                <a:cs typeface="Calibri" panose="020F0502020204030204" pitchFamily="34" charset="0"/>
              </a:rPr>
              <a:t>The more reddish shade the features have the stronger their correlation</a:t>
            </a:r>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BCD3AE7C-5E8E-571C-8915-3F081758C36D}"/>
              </a:ext>
            </a:extLst>
          </p:cNvPr>
          <p:cNvPicPr>
            <a:picLocks noChangeAspect="1"/>
          </p:cNvPicPr>
          <p:nvPr/>
        </p:nvPicPr>
        <p:blipFill>
          <a:blip r:embed="rId2"/>
          <a:stretch>
            <a:fillRect/>
          </a:stretch>
        </p:blipFill>
        <p:spPr>
          <a:xfrm>
            <a:off x="4640826" y="465069"/>
            <a:ext cx="7201341" cy="6337181"/>
          </a:xfrm>
          <a:prstGeom prst="rect">
            <a:avLst/>
          </a:prstGeom>
        </p:spPr>
      </p:pic>
    </p:spTree>
    <p:extLst>
      <p:ext uri="{BB962C8B-B14F-4D97-AF65-F5344CB8AC3E}">
        <p14:creationId xmlns:p14="http://schemas.microsoft.com/office/powerpoint/2010/main" val="13677351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ECEFC-0629-49E9-CD7A-8A9DC0F728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481A08-315B-83CB-315E-86A45DFF9934}"/>
              </a:ext>
            </a:extLst>
          </p:cNvPr>
          <p:cNvSpPr>
            <a:spLocks noGrp="1"/>
          </p:cNvSpPr>
          <p:nvPr>
            <p:ph sz="quarter" idx="13"/>
          </p:nvPr>
        </p:nvSpPr>
        <p:spPr>
          <a:xfrm>
            <a:off x="109010" y="1836149"/>
            <a:ext cx="4857762" cy="4731799"/>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b="0" i="0" cap="none"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Sales representative, laboratory technician, human resources, sale executive, research scientist job roles respectively tends to leave the company more than others respectively</a:t>
            </a:r>
          </a:p>
          <a:p>
            <a:r>
              <a:rPr lang="en-US" sz="1800" b="0" i="0" cap="none" dirty="0">
                <a:effectLst/>
                <a:latin typeface="Calibri" panose="020F0502020204030204" pitchFamily="34" charset="0"/>
                <a:ea typeface="Calibri" panose="020F0502020204030204" pitchFamily="34" charset="0"/>
                <a:cs typeface="Calibri" panose="020F0502020204030204" pitchFamily="34" charset="0"/>
              </a:rPr>
              <a:t>Sales and human resources departments loss staffs at the highest rate</a:t>
            </a:r>
          </a:p>
          <a:p>
            <a:r>
              <a:rPr lang="en-US" sz="1800" b="0" i="0" cap="none" dirty="0">
                <a:effectLst/>
                <a:latin typeface="Calibri" panose="020F0502020204030204" pitchFamily="34" charset="0"/>
                <a:ea typeface="Calibri" panose="020F0502020204030204" pitchFamily="34" charset="0"/>
                <a:cs typeface="Calibri" panose="020F0502020204030204" pitchFamily="34" charset="0"/>
              </a:rPr>
              <a:t>Staffs that travel frequently are more likely to leave the company</a:t>
            </a:r>
          </a:p>
          <a:p>
            <a:r>
              <a:rPr lang="en-US" sz="1800" cap="none" dirty="0">
                <a:latin typeface="Calibri" panose="020F0502020204030204" pitchFamily="34" charset="0"/>
                <a:ea typeface="Calibri" panose="020F0502020204030204" pitchFamily="34" charset="0"/>
                <a:cs typeface="Calibri" panose="020F0502020204030204" pitchFamily="34" charset="0"/>
              </a:rPr>
              <a:t>Gender doesn’t show any significant difference between the two. Hence both exit relatively equally.</a:t>
            </a:r>
            <a:endParaRPr lang="en-US" sz="1800" b="0" i="0" cap="none"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92C31EFA-3503-CB94-745F-C5A5A732A896}"/>
              </a:ext>
            </a:extLst>
          </p:cNvPr>
          <p:cNvPicPr>
            <a:picLocks noChangeAspect="1"/>
          </p:cNvPicPr>
          <p:nvPr/>
        </p:nvPicPr>
        <p:blipFill>
          <a:blip r:embed="rId2"/>
          <a:stretch>
            <a:fillRect/>
          </a:stretch>
        </p:blipFill>
        <p:spPr>
          <a:xfrm>
            <a:off x="8808219" y="0"/>
            <a:ext cx="3375104" cy="2909244"/>
          </a:xfrm>
          <a:prstGeom prst="rect">
            <a:avLst/>
          </a:prstGeom>
        </p:spPr>
      </p:pic>
      <p:pic>
        <p:nvPicPr>
          <p:cNvPr id="7" name="Picture 6">
            <a:extLst>
              <a:ext uri="{FF2B5EF4-FFF2-40B4-BE49-F238E27FC236}">
                <a16:creationId xmlns:a16="http://schemas.microsoft.com/office/drawing/2014/main" id="{A29630F4-3934-E849-910C-9CE24B9C53B3}"/>
              </a:ext>
            </a:extLst>
          </p:cNvPr>
          <p:cNvPicPr>
            <a:picLocks noChangeAspect="1"/>
          </p:cNvPicPr>
          <p:nvPr/>
        </p:nvPicPr>
        <p:blipFill>
          <a:blip r:embed="rId3"/>
          <a:stretch>
            <a:fillRect/>
          </a:stretch>
        </p:blipFill>
        <p:spPr>
          <a:xfrm>
            <a:off x="8808219" y="3429000"/>
            <a:ext cx="3383781" cy="3276599"/>
          </a:xfrm>
          <a:prstGeom prst="rect">
            <a:avLst/>
          </a:prstGeom>
        </p:spPr>
      </p:pic>
      <p:pic>
        <p:nvPicPr>
          <p:cNvPr id="9" name="Picture 8">
            <a:extLst>
              <a:ext uri="{FF2B5EF4-FFF2-40B4-BE49-F238E27FC236}">
                <a16:creationId xmlns:a16="http://schemas.microsoft.com/office/drawing/2014/main" id="{47C1850B-46D4-2F9C-4642-F2A1B465A88B}"/>
              </a:ext>
            </a:extLst>
          </p:cNvPr>
          <p:cNvPicPr>
            <a:picLocks noChangeAspect="1"/>
          </p:cNvPicPr>
          <p:nvPr/>
        </p:nvPicPr>
        <p:blipFill>
          <a:blip r:embed="rId4"/>
          <a:stretch>
            <a:fillRect/>
          </a:stretch>
        </p:blipFill>
        <p:spPr>
          <a:xfrm>
            <a:off x="5368412" y="0"/>
            <a:ext cx="3038167" cy="2957951"/>
          </a:xfrm>
          <a:prstGeom prst="rect">
            <a:avLst/>
          </a:prstGeom>
        </p:spPr>
      </p:pic>
      <p:pic>
        <p:nvPicPr>
          <p:cNvPr id="11" name="Picture 10">
            <a:extLst>
              <a:ext uri="{FF2B5EF4-FFF2-40B4-BE49-F238E27FC236}">
                <a16:creationId xmlns:a16="http://schemas.microsoft.com/office/drawing/2014/main" id="{D81DC94C-1560-6D60-EC97-3411D9112AAB}"/>
              </a:ext>
            </a:extLst>
          </p:cNvPr>
          <p:cNvPicPr>
            <a:picLocks noChangeAspect="1"/>
          </p:cNvPicPr>
          <p:nvPr/>
        </p:nvPicPr>
        <p:blipFill>
          <a:blip r:embed="rId5"/>
          <a:stretch>
            <a:fillRect/>
          </a:stretch>
        </p:blipFill>
        <p:spPr>
          <a:xfrm>
            <a:off x="5235601" y="3429000"/>
            <a:ext cx="3170978" cy="3138948"/>
          </a:xfrm>
          <a:prstGeom prst="rect">
            <a:avLst/>
          </a:prstGeom>
        </p:spPr>
      </p:pic>
    </p:spTree>
    <p:extLst>
      <p:ext uri="{BB962C8B-B14F-4D97-AF65-F5344CB8AC3E}">
        <p14:creationId xmlns:p14="http://schemas.microsoft.com/office/powerpoint/2010/main" val="42319100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61A2B-ED24-C20F-BD21-3F00B43C3B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A9BF5F-AD94-AC98-2534-1EE788DB01F1}"/>
              </a:ext>
            </a:extLst>
          </p:cNvPr>
          <p:cNvSpPr>
            <a:spLocks noGrp="1"/>
          </p:cNvSpPr>
          <p:nvPr>
            <p:ph sz="quarter" idx="13"/>
          </p:nvPr>
        </p:nvSpPr>
        <p:spPr>
          <a:xfrm>
            <a:off x="87864" y="1896512"/>
            <a:ext cx="4010064" cy="3560391"/>
          </a:xfrm>
        </p:spPr>
        <p:txBody>
          <a:bodyPr>
            <a:norm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b="0" i="0" cap="none"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Staffs that come from far and very far tend to leave the company more than others</a:t>
            </a:r>
          </a:p>
          <a:p>
            <a:pPr algn="l">
              <a:buFont typeface="Arial" panose="020B0604020202020204" pitchFamily="34" charset="0"/>
              <a:buChar char="•"/>
            </a:pPr>
            <a:r>
              <a:rPr lang="en-US" sz="1800" b="0" i="0" cap="none" dirty="0">
                <a:effectLst/>
                <a:latin typeface="Calibri" panose="020F0502020204030204" pitchFamily="34" charset="0"/>
                <a:ea typeface="Calibri" panose="020F0502020204030204" pitchFamily="34" charset="0"/>
                <a:cs typeface="Calibri" panose="020F0502020204030204" pitchFamily="34" charset="0"/>
              </a:rPr>
              <a:t>Top 3 education field with highest attrition includes human resources, marketing and technical degree</a:t>
            </a:r>
          </a:p>
          <a:p>
            <a:r>
              <a:rPr lang="en-US" sz="1800" cap="none" dirty="0">
                <a:latin typeface="Calibri" panose="020F0502020204030204" pitchFamily="34" charset="0"/>
                <a:ea typeface="Calibri" panose="020F0502020204030204" pitchFamily="34" charset="0"/>
                <a:cs typeface="Calibri" panose="020F0502020204030204" pitchFamily="34" charset="0"/>
              </a:rPr>
              <a:t>Low earners have stronger exit impact</a:t>
            </a:r>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1F5C8F0-CB7F-BE3A-1C13-E8D8A89E4708}"/>
              </a:ext>
            </a:extLst>
          </p:cNvPr>
          <p:cNvPicPr>
            <a:picLocks noChangeAspect="1"/>
          </p:cNvPicPr>
          <p:nvPr/>
        </p:nvPicPr>
        <p:blipFill>
          <a:blip r:embed="rId2"/>
          <a:stretch>
            <a:fillRect/>
          </a:stretch>
        </p:blipFill>
        <p:spPr>
          <a:xfrm>
            <a:off x="4629514" y="0"/>
            <a:ext cx="3593307" cy="3340742"/>
          </a:xfrm>
          <a:prstGeom prst="rect">
            <a:avLst/>
          </a:prstGeom>
        </p:spPr>
      </p:pic>
      <p:pic>
        <p:nvPicPr>
          <p:cNvPr id="7" name="Picture 6">
            <a:extLst>
              <a:ext uri="{FF2B5EF4-FFF2-40B4-BE49-F238E27FC236}">
                <a16:creationId xmlns:a16="http://schemas.microsoft.com/office/drawing/2014/main" id="{4449F4B7-4412-8B9F-CDA0-688A626128B8}"/>
              </a:ext>
            </a:extLst>
          </p:cNvPr>
          <p:cNvPicPr>
            <a:picLocks noChangeAspect="1"/>
          </p:cNvPicPr>
          <p:nvPr/>
        </p:nvPicPr>
        <p:blipFill>
          <a:blip r:embed="rId3"/>
          <a:stretch>
            <a:fillRect/>
          </a:stretch>
        </p:blipFill>
        <p:spPr>
          <a:xfrm>
            <a:off x="8420110" y="1670370"/>
            <a:ext cx="3520716" cy="3340743"/>
          </a:xfrm>
          <a:prstGeom prst="rect">
            <a:avLst/>
          </a:prstGeom>
        </p:spPr>
      </p:pic>
      <p:pic>
        <p:nvPicPr>
          <p:cNvPr id="9" name="Picture 8">
            <a:extLst>
              <a:ext uri="{FF2B5EF4-FFF2-40B4-BE49-F238E27FC236}">
                <a16:creationId xmlns:a16="http://schemas.microsoft.com/office/drawing/2014/main" id="{D85A456C-3B1A-F906-29C3-0C1DD08BA801}"/>
              </a:ext>
            </a:extLst>
          </p:cNvPr>
          <p:cNvPicPr>
            <a:picLocks noChangeAspect="1"/>
          </p:cNvPicPr>
          <p:nvPr/>
        </p:nvPicPr>
        <p:blipFill>
          <a:blip r:embed="rId4"/>
          <a:stretch>
            <a:fillRect/>
          </a:stretch>
        </p:blipFill>
        <p:spPr>
          <a:xfrm>
            <a:off x="4903283" y="3583832"/>
            <a:ext cx="3319538" cy="3274168"/>
          </a:xfrm>
          <a:prstGeom prst="rect">
            <a:avLst/>
          </a:prstGeom>
        </p:spPr>
      </p:pic>
    </p:spTree>
    <p:extLst>
      <p:ext uri="{BB962C8B-B14F-4D97-AF65-F5344CB8AC3E}">
        <p14:creationId xmlns:p14="http://schemas.microsoft.com/office/powerpoint/2010/main" val="1300478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F290F-3A74-2661-EA83-A8F0AB1B95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C3FC14-A6E1-F9F9-897D-BF5AB9C6A520}"/>
              </a:ext>
            </a:extLst>
          </p:cNvPr>
          <p:cNvSpPr>
            <a:spLocks noGrp="1"/>
          </p:cNvSpPr>
          <p:nvPr>
            <p:ph sz="quarter" idx="13"/>
          </p:nvPr>
        </p:nvSpPr>
        <p:spPr>
          <a:xfrm>
            <a:off x="124028" y="455571"/>
            <a:ext cx="4202166" cy="6259862"/>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p>
          <a:p>
            <a:r>
              <a:rPr lang="en-US" sz="1800" cap="none" dirty="0">
                <a:latin typeface="Calibri" panose="020F0502020204030204" pitchFamily="34" charset="0"/>
                <a:ea typeface="Calibri" panose="020F0502020204030204" pitchFamily="34" charset="0"/>
                <a:cs typeface="Calibri" panose="020F0502020204030204" pitchFamily="34" charset="0"/>
              </a:rPr>
              <a:t>Correlation plot of all the features with respect to attrition using a threshold of 0.05</a:t>
            </a:r>
          </a:p>
          <a:p>
            <a:r>
              <a:rPr lang="en-US" sz="1800" cap="none" dirty="0">
                <a:latin typeface="Calibri" panose="020F0502020204030204" pitchFamily="34" charset="0"/>
                <a:ea typeface="Calibri" panose="020F0502020204030204" pitchFamily="34" charset="0"/>
                <a:cs typeface="Calibri" panose="020F0502020204030204" pitchFamily="34" charset="0"/>
              </a:rPr>
              <a:t>The top 10 impactful features include: </a:t>
            </a:r>
            <a:r>
              <a:rPr lang="en-NG" sz="1800" cap="none" dirty="0">
                <a:effectLst/>
                <a:latin typeface="Calibri" panose="020F0502020204030204" pitchFamily="34" charset="0"/>
                <a:ea typeface="Calibri" panose="020F0502020204030204" pitchFamily="34" charset="0"/>
                <a:cs typeface="Calibri" panose="020F0502020204030204" pitchFamily="34" charset="0"/>
              </a:rPr>
              <a:t>overtime</a:t>
            </a:r>
            <a:r>
              <a:rPr lang="en-US" sz="1800" cap="none" dirty="0">
                <a:effectLst/>
                <a:latin typeface="Calibri" panose="020F0502020204030204" pitchFamily="34" charset="0"/>
                <a:ea typeface="Calibri" panose="020F0502020204030204" pitchFamily="34" charset="0"/>
                <a:cs typeface="Calibri" panose="020F0502020204030204" pitchFamily="34" charset="0"/>
              </a:rPr>
              <a:t>_</a:t>
            </a:r>
            <a:r>
              <a:rPr lang="en-NG" sz="1800" cap="none" dirty="0">
                <a:effectLst/>
                <a:latin typeface="Calibri" panose="020F0502020204030204" pitchFamily="34" charset="0"/>
                <a:ea typeface="Calibri" panose="020F0502020204030204" pitchFamily="34" charset="0"/>
                <a:cs typeface="Calibri" panose="020F0502020204030204" pitchFamily="34" charset="0"/>
              </a:rPr>
              <a:t>yes </a:t>
            </a:r>
            <a:r>
              <a:rPr lang="en-US" sz="1800" cap="none" dirty="0">
                <a:effectLst/>
                <a:latin typeface="Calibri" panose="020F0502020204030204" pitchFamily="34" charset="0"/>
                <a:ea typeface="Calibri" panose="020F0502020204030204" pitchFamily="34" charset="0"/>
                <a:cs typeface="Calibri" panose="020F0502020204030204" pitchFamily="34" charset="0"/>
              </a:rPr>
              <a:t>,</a:t>
            </a:r>
            <a:r>
              <a:rPr lang="en-US" sz="1800" cap="none" dirty="0">
                <a:latin typeface="Calibri" panose="020F0502020204030204" pitchFamily="34" charset="0"/>
                <a:ea typeface="Calibri" panose="020F0502020204030204" pitchFamily="34" charset="0"/>
                <a:cs typeface="Calibri" panose="020F0502020204030204" pitchFamily="34" charset="0"/>
              </a:rPr>
              <a:t> joblevel_1, stockoptionlevel_0, </a:t>
            </a:r>
            <a:r>
              <a:rPr lang="en-US" sz="1800" cap="none" dirty="0" err="1">
                <a:latin typeface="Calibri" panose="020F0502020204030204" pitchFamily="34" charset="0"/>
                <a:ea typeface="Calibri" panose="020F0502020204030204" pitchFamily="34" charset="0"/>
                <a:cs typeface="Calibri" panose="020F0502020204030204" pitchFamily="34" charset="0"/>
              </a:rPr>
              <a:t>maritalstatus_single</a:t>
            </a:r>
            <a:r>
              <a:rPr lang="en-US" sz="1800" cap="none" dirty="0">
                <a:latin typeface="Calibri" panose="020F0502020204030204" pitchFamily="34" charset="0"/>
                <a:ea typeface="Calibri" panose="020F0502020204030204" pitchFamily="34" charset="0"/>
                <a:cs typeface="Calibri" panose="020F0502020204030204" pitchFamily="34" charset="0"/>
              </a:rPr>
              <a:t>, </a:t>
            </a:r>
            <a:r>
              <a:rPr lang="en-US" sz="1800" cap="none" dirty="0" err="1">
                <a:latin typeface="Calibri" panose="020F0502020204030204" pitchFamily="34" charset="0"/>
                <a:ea typeface="Calibri" panose="020F0502020204030204" pitchFamily="34" charset="0"/>
                <a:cs typeface="Calibri" panose="020F0502020204030204" pitchFamily="34" charset="0"/>
              </a:rPr>
              <a:t>age_group_young</a:t>
            </a:r>
            <a:r>
              <a:rPr lang="en-US" sz="1800" cap="none" dirty="0">
                <a:latin typeface="Calibri" panose="020F0502020204030204" pitchFamily="34" charset="0"/>
                <a:ea typeface="Calibri" panose="020F0502020204030204" pitchFamily="34" charset="0"/>
                <a:cs typeface="Calibri" panose="020F0502020204030204" pitchFamily="34" charset="0"/>
              </a:rPr>
              <a:t> adult, </a:t>
            </a:r>
            <a:r>
              <a:rPr lang="en-US" sz="1800" cap="none" dirty="0" err="1">
                <a:latin typeface="Calibri" panose="020F0502020204030204" pitchFamily="34" charset="0"/>
                <a:ea typeface="Calibri" panose="020F0502020204030204" pitchFamily="34" charset="0"/>
                <a:cs typeface="Calibri" panose="020F0502020204030204" pitchFamily="34" charset="0"/>
              </a:rPr>
              <a:t>jobrole_sales</a:t>
            </a:r>
            <a:r>
              <a:rPr lang="en-US" sz="1800" cap="none" dirty="0">
                <a:latin typeface="Calibri" panose="020F0502020204030204" pitchFamily="34" charset="0"/>
                <a:ea typeface="Calibri" panose="020F0502020204030204" pitchFamily="34" charset="0"/>
                <a:cs typeface="Calibri" panose="020F0502020204030204" pitchFamily="34" charset="0"/>
              </a:rPr>
              <a:t> representative, </a:t>
            </a:r>
            <a:r>
              <a:rPr lang="en-US" sz="1800" cap="none" dirty="0" err="1">
                <a:latin typeface="Calibri" panose="020F0502020204030204" pitchFamily="34" charset="0"/>
                <a:ea typeface="Calibri" panose="020F0502020204030204" pitchFamily="34" charset="0"/>
                <a:cs typeface="Calibri" panose="020F0502020204030204" pitchFamily="34" charset="0"/>
              </a:rPr>
              <a:t>monthlyincome_group_low</a:t>
            </a:r>
            <a:r>
              <a:rPr lang="en-US" sz="1800" cap="none" dirty="0">
                <a:latin typeface="Calibri" panose="020F0502020204030204" pitchFamily="34" charset="0"/>
                <a:ea typeface="Calibri" panose="020F0502020204030204" pitchFamily="34" charset="0"/>
                <a:cs typeface="Calibri" panose="020F0502020204030204" pitchFamily="34" charset="0"/>
              </a:rPr>
              <a:t>, environmentsatisfaction_1, jobinvolvement_1, and </a:t>
            </a:r>
            <a:r>
              <a:rPr lang="en-US" sz="1800" cap="none" dirty="0" err="1">
                <a:latin typeface="Calibri" panose="020F0502020204030204" pitchFamily="34" charset="0"/>
                <a:ea typeface="Calibri" panose="020F0502020204030204" pitchFamily="34" charset="0"/>
                <a:cs typeface="Calibri" panose="020F0502020204030204" pitchFamily="34" charset="0"/>
              </a:rPr>
              <a:t>businesstravel_frequently</a:t>
            </a:r>
            <a:endParaRPr lang="en-US" sz="1800" cap="none" dirty="0">
              <a:latin typeface="Calibri" panose="020F0502020204030204" pitchFamily="34" charset="0"/>
              <a:ea typeface="Calibri" panose="020F0502020204030204" pitchFamily="34" charset="0"/>
              <a:cs typeface="Calibri" panose="020F0502020204030204" pitchFamily="34" charset="0"/>
            </a:endParaRPr>
          </a:p>
          <a:p>
            <a:r>
              <a:rPr lang="en-US" sz="1800" cap="none" dirty="0">
                <a:latin typeface="Calibri" panose="020F0502020204030204" pitchFamily="34" charset="0"/>
                <a:ea typeface="Calibri" panose="020F0502020204030204" pitchFamily="34" charset="0"/>
                <a:cs typeface="Calibri" panose="020F0502020204030204" pitchFamily="34" charset="0"/>
              </a:rPr>
              <a:t>It also shows top 10 features that impact negatively on attrition(</a:t>
            </a:r>
            <a:r>
              <a:rPr lang="en-US" sz="1800" cap="none" dirty="0" err="1">
                <a:latin typeface="Calibri" panose="020F0502020204030204" pitchFamily="34" charset="0"/>
                <a:ea typeface="Calibri" panose="020F0502020204030204" pitchFamily="34" charset="0"/>
                <a:cs typeface="Calibri" panose="020F0502020204030204" pitchFamily="34" charset="0"/>
              </a:rPr>
              <a:t>eg</a:t>
            </a:r>
            <a:r>
              <a:rPr lang="en-US" sz="1800" cap="none" dirty="0">
                <a:latin typeface="Calibri" panose="020F0502020204030204" pitchFamily="34" charset="0"/>
                <a:ea typeface="Calibri" panose="020F0502020204030204" pitchFamily="34" charset="0"/>
                <a:cs typeface="Calibri" panose="020F0502020204030204" pitchFamily="34" charset="0"/>
              </a:rPr>
              <a:t>: </a:t>
            </a:r>
            <a:r>
              <a:rPr lang="en-US" sz="1800" cap="none" dirty="0" err="1">
                <a:latin typeface="Calibri" panose="020F0502020204030204" pitchFamily="34" charset="0"/>
                <a:ea typeface="Calibri" panose="020F0502020204030204" pitchFamily="34" charset="0"/>
                <a:cs typeface="Calibri" panose="020F0502020204030204" pitchFamily="34" charset="0"/>
              </a:rPr>
              <a:t>overtime_no</a:t>
            </a:r>
            <a:r>
              <a:rPr lang="en-US" sz="1800" cap="none" dirty="0">
                <a:latin typeface="Calibri" panose="020F0502020204030204" pitchFamily="34" charset="0"/>
                <a:ea typeface="Calibri" panose="020F0502020204030204" pitchFamily="34" charset="0"/>
                <a:cs typeface="Calibri" panose="020F0502020204030204" pitchFamily="34" charset="0"/>
              </a:rPr>
              <a:t>, </a:t>
            </a:r>
            <a:r>
              <a:rPr lang="en-US" sz="1800" cap="none" dirty="0" err="1">
                <a:latin typeface="Calibri" panose="020F0502020204030204" pitchFamily="34" charset="0"/>
                <a:ea typeface="Calibri" panose="020F0502020204030204" pitchFamily="34" charset="0"/>
                <a:cs typeface="Calibri" panose="020F0502020204030204" pitchFamily="34" charset="0"/>
              </a:rPr>
              <a:t>totalworkingyears</a:t>
            </a:r>
            <a:r>
              <a:rPr lang="en-US" sz="1800" cap="none" dirty="0">
                <a:latin typeface="Calibri" panose="020F0502020204030204" pitchFamily="34" charset="0"/>
                <a:ea typeface="Calibri" panose="020F0502020204030204" pitchFamily="34" charset="0"/>
                <a:cs typeface="Calibri" panose="020F0502020204030204" pitchFamily="34" charset="0"/>
              </a:rPr>
              <a:t>, </a:t>
            </a:r>
            <a:r>
              <a:rPr lang="en-US" sz="1800" cap="none" dirty="0" err="1">
                <a:latin typeface="Calibri" panose="020F0502020204030204" pitchFamily="34" charset="0"/>
                <a:ea typeface="Calibri" panose="020F0502020204030204" pitchFamily="34" charset="0"/>
                <a:cs typeface="Calibri" panose="020F0502020204030204" pitchFamily="34" charset="0"/>
              </a:rPr>
              <a:t>yearsincurrentrole</a:t>
            </a:r>
            <a:r>
              <a:rPr lang="en-US" sz="1800" cap="none" dirty="0">
                <a:latin typeface="Calibri" panose="020F0502020204030204" pitchFamily="34" charset="0"/>
                <a:ea typeface="Calibri" panose="020F0502020204030204" pitchFamily="34" charset="0"/>
                <a:cs typeface="Calibri" panose="020F0502020204030204" pitchFamily="34" charset="0"/>
              </a:rPr>
              <a:t>, etc.</a:t>
            </a:r>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68BD934C-7A23-C333-E403-D9A226980EA7}"/>
              </a:ext>
            </a:extLst>
          </p:cNvPr>
          <p:cNvPicPr>
            <a:picLocks noChangeAspect="1"/>
          </p:cNvPicPr>
          <p:nvPr/>
        </p:nvPicPr>
        <p:blipFill>
          <a:blip r:embed="rId2"/>
          <a:stretch>
            <a:fillRect/>
          </a:stretch>
        </p:blipFill>
        <p:spPr>
          <a:xfrm>
            <a:off x="4432225" y="146709"/>
            <a:ext cx="7635747" cy="6711291"/>
          </a:xfrm>
          <a:prstGeom prst="rect">
            <a:avLst/>
          </a:prstGeom>
        </p:spPr>
      </p:pic>
    </p:spTree>
    <p:extLst>
      <p:ext uri="{BB962C8B-B14F-4D97-AF65-F5344CB8AC3E}">
        <p14:creationId xmlns:p14="http://schemas.microsoft.com/office/powerpoint/2010/main" val="6389019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915485-B940-0B00-317C-2B0495C9C8E9}"/>
              </a:ext>
            </a:extLst>
          </p:cNvPr>
          <p:cNvSpPr>
            <a:spLocks noGrp="1"/>
          </p:cNvSpPr>
          <p:nvPr>
            <p:ph sz="quarter" idx="13"/>
          </p:nvPr>
        </p:nvSpPr>
        <p:spPr>
          <a:xfrm>
            <a:off x="0" y="865239"/>
            <a:ext cx="3595292" cy="5545394"/>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p>
          <a:p>
            <a:pPr marL="0" indent="0">
              <a:buNone/>
            </a:pPr>
            <a:r>
              <a:rPr lang="en-US" sz="1800" cap="none" dirty="0">
                <a:latin typeface="Calibri" panose="020F0502020204030204" pitchFamily="34" charset="0"/>
                <a:ea typeface="Calibri" panose="020F0502020204030204" pitchFamily="34" charset="0"/>
                <a:cs typeface="Calibri" panose="020F0502020204030204" pitchFamily="34" charset="0"/>
              </a:rPr>
              <a:t>The rate at which:</a:t>
            </a:r>
          </a:p>
          <a:p>
            <a:r>
              <a:rPr lang="en-US" sz="1800" cap="none" dirty="0">
                <a:latin typeface="Calibri" panose="020F0502020204030204" pitchFamily="34" charset="0"/>
                <a:ea typeface="Calibri" panose="020F0502020204030204" pitchFamily="34" charset="0"/>
                <a:cs typeface="Calibri" panose="020F0502020204030204" pitchFamily="34" charset="0"/>
              </a:rPr>
              <a:t>Sales executives who do over time leave more as well healthcare managers and managing directors</a:t>
            </a:r>
          </a:p>
          <a:p>
            <a:r>
              <a:rPr lang="en-US" sz="1800" cap="none" dirty="0">
                <a:latin typeface="Calibri" panose="020F0502020204030204" pitchFamily="34" charset="0"/>
                <a:ea typeface="Calibri" panose="020F0502020204030204" pitchFamily="34" charset="0"/>
                <a:cs typeface="Calibri" panose="020F0502020204030204" pitchFamily="34" charset="0"/>
              </a:rPr>
              <a:t>Those who are least satisfied with their jobs, leave more. While those who are more satisfied and do overtime leave more</a:t>
            </a:r>
          </a:p>
          <a:p>
            <a:r>
              <a:rPr lang="en-US" sz="1800" cap="none" dirty="0">
                <a:latin typeface="Calibri" panose="020F0502020204030204" pitchFamily="34" charset="0"/>
                <a:ea typeface="Calibri" panose="020F0502020204030204" pitchFamily="34" charset="0"/>
                <a:cs typeface="Calibri" panose="020F0502020204030204" pitchFamily="34" charset="0"/>
              </a:rPr>
              <a:t>Those who are divorced and do overtime exit more</a:t>
            </a:r>
          </a:p>
          <a:p>
            <a:r>
              <a:rPr lang="en-US" sz="1800" cap="none" dirty="0">
                <a:latin typeface="Calibri" panose="020F0502020204030204" pitchFamily="34" charset="0"/>
                <a:ea typeface="Calibri" panose="020F0502020204030204" pitchFamily="34" charset="0"/>
                <a:cs typeface="Calibri" panose="020F0502020204030204" pitchFamily="34" charset="0"/>
              </a:rPr>
              <a:t>Those who are highest performing and do overtime tend to depart at a much more higher rate</a:t>
            </a:r>
          </a:p>
        </p:txBody>
      </p:sp>
      <p:pic>
        <p:nvPicPr>
          <p:cNvPr id="5" name="Picture 4">
            <a:extLst>
              <a:ext uri="{FF2B5EF4-FFF2-40B4-BE49-F238E27FC236}">
                <a16:creationId xmlns:a16="http://schemas.microsoft.com/office/drawing/2014/main" id="{F80330FA-073A-FF66-2593-6470E7420A2A}"/>
              </a:ext>
            </a:extLst>
          </p:cNvPr>
          <p:cNvPicPr>
            <a:picLocks noChangeAspect="1"/>
          </p:cNvPicPr>
          <p:nvPr/>
        </p:nvPicPr>
        <p:blipFill>
          <a:blip r:embed="rId2"/>
          <a:stretch>
            <a:fillRect/>
          </a:stretch>
        </p:blipFill>
        <p:spPr>
          <a:xfrm>
            <a:off x="8059629" y="314121"/>
            <a:ext cx="3941865" cy="2366598"/>
          </a:xfrm>
          <a:prstGeom prst="rect">
            <a:avLst/>
          </a:prstGeom>
        </p:spPr>
      </p:pic>
      <p:pic>
        <p:nvPicPr>
          <p:cNvPr id="7" name="Picture 6">
            <a:extLst>
              <a:ext uri="{FF2B5EF4-FFF2-40B4-BE49-F238E27FC236}">
                <a16:creationId xmlns:a16="http://schemas.microsoft.com/office/drawing/2014/main" id="{CD556451-7C30-2040-D45D-2548A55AF97B}"/>
              </a:ext>
            </a:extLst>
          </p:cNvPr>
          <p:cNvPicPr>
            <a:picLocks noChangeAspect="1"/>
          </p:cNvPicPr>
          <p:nvPr/>
        </p:nvPicPr>
        <p:blipFill>
          <a:blip r:embed="rId3"/>
          <a:stretch>
            <a:fillRect/>
          </a:stretch>
        </p:blipFill>
        <p:spPr>
          <a:xfrm>
            <a:off x="8025231" y="3729404"/>
            <a:ext cx="4026147" cy="2366598"/>
          </a:xfrm>
          <a:prstGeom prst="rect">
            <a:avLst/>
          </a:prstGeom>
        </p:spPr>
      </p:pic>
      <p:pic>
        <p:nvPicPr>
          <p:cNvPr id="9" name="Picture 8">
            <a:extLst>
              <a:ext uri="{FF2B5EF4-FFF2-40B4-BE49-F238E27FC236}">
                <a16:creationId xmlns:a16="http://schemas.microsoft.com/office/drawing/2014/main" id="{F736E658-550A-F27E-A78E-73420207EDF6}"/>
              </a:ext>
            </a:extLst>
          </p:cNvPr>
          <p:cNvPicPr>
            <a:picLocks noChangeAspect="1"/>
          </p:cNvPicPr>
          <p:nvPr/>
        </p:nvPicPr>
        <p:blipFill>
          <a:blip r:embed="rId4"/>
          <a:stretch>
            <a:fillRect/>
          </a:stretch>
        </p:blipFill>
        <p:spPr>
          <a:xfrm>
            <a:off x="4166770" y="3729404"/>
            <a:ext cx="3744532" cy="2366599"/>
          </a:xfrm>
          <a:prstGeom prst="rect">
            <a:avLst/>
          </a:prstGeom>
        </p:spPr>
      </p:pic>
      <p:pic>
        <p:nvPicPr>
          <p:cNvPr id="11" name="Picture 10">
            <a:extLst>
              <a:ext uri="{FF2B5EF4-FFF2-40B4-BE49-F238E27FC236}">
                <a16:creationId xmlns:a16="http://schemas.microsoft.com/office/drawing/2014/main" id="{6DA67012-65D4-99E8-C26F-E37C3FA7B990}"/>
              </a:ext>
            </a:extLst>
          </p:cNvPr>
          <p:cNvPicPr>
            <a:picLocks noChangeAspect="1"/>
          </p:cNvPicPr>
          <p:nvPr/>
        </p:nvPicPr>
        <p:blipFill>
          <a:blip r:embed="rId5"/>
          <a:stretch>
            <a:fillRect/>
          </a:stretch>
        </p:blipFill>
        <p:spPr>
          <a:xfrm>
            <a:off x="3872974" y="551496"/>
            <a:ext cx="4049595" cy="2366598"/>
          </a:xfrm>
          <a:prstGeom prst="rect">
            <a:avLst/>
          </a:prstGeom>
        </p:spPr>
      </p:pic>
    </p:spTree>
    <p:extLst>
      <p:ext uri="{BB962C8B-B14F-4D97-AF65-F5344CB8AC3E}">
        <p14:creationId xmlns:p14="http://schemas.microsoft.com/office/powerpoint/2010/main" val="3336290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B0CAC9-DADF-B234-CFF6-0D904AAEC3CE}"/>
              </a:ext>
            </a:extLst>
          </p:cNvPr>
          <p:cNvSpPr>
            <a:spLocks noGrp="1"/>
          </p:cNvSpPr>
          <p:nvPr>
            <p:ph sz="quarter" idx="13"/>
          </p:nvPr>
        </p:nvSpPr>
        <p:spPr>
          <a:xfrm>
            <a:off x="182224" y="1649362"/>
            <a:ext cx="3534370" cy="4289321"/>
          </a:xfrm>
        </p:spPr>
        <p:txBody>
          <a:bodyPr>
            <a:norm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p>
          <a:p>
            <a:r>
              <a:rPr lang="en-US" sz="1800" cap="none" dirty="0">
                <a:latin typeface="Calibri" panose="020F0502020204030204" pitchFamily="34" charset="0"/>
                <a:ea typeface="Calibri" panose="020F0502020204030204" pitchFamily="34" charset="0"/>
                <a:cs typeface="Calibri" panose="020F0502020204030204" pitchFamily="34" charset="0"/>
              </a:rPr>
              <a:t>Females who do overtime exit at a higher rate way more than those that don’t</a:t>
            </a:r>
          </a:p>
          <a:p>
            <a:r>
              <a:rPr lang="en-US" sz="1800" cap="none" dirty="0">
                <a:latin typeface="Calibri" panose="020F0502020204030204" pitchFamily="34" charset="0"/>
                <a:ea typeface="Calibri" panose="020F0502020204030204" pitchFamily="34" charset="0"/>
                <a:cs typeface="Calibri" panose="020F0502020204030204" pitchFamily="34" charset="0"/>
              </a:rPr>
              <a:t>Most of the senior and executive level employees who do over time exit at a more higher rate. This is because they tend to carry heavy operational demands or extended responsibilities.</a:t>
            </a:r>
          </a:p>
          <a:p>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DC87B607-E2CF-A70D-45A9-38110DEAFCAF}"/>
              </a:ext>
            </a:extLst>
          </p:cNvPr>
          <p:cNvPicPr>
            <a:picLocks noChangeAspect="1"/>
          </p:cNvPicPr>
          <p:nvPr/>
        </p:nvPicPr>
        <p:blipFill>
          <a:blip r:embed="rId2"/>
          <a:stretch>
            <a:fillRect/>
          </a:stretch>
        </p:blipFill>
        <p:spPr>
          <a:xfrm>
            <a:off x="3966399" y="90142"/>
            <a:ext cx="7779150" cy="3511730"/>
          </a:xfrm>
          <a:prstGeom prst="rect">
            <a:avLst/>
          </a:prstGeom>
        </p:spPr>
      </p:pic>
      <p:pic>
        <p:nvPicPr>
          <p:cNvPr id="9" name="Picture 8">
            <a:extLst>
              <a:ext uri="{FF2B5EF4-FFF2-40B4-BE49-F238E27FC236}">
                <a16:creationId xmlns:a16="http://schemas.microsoft.com/office/drawing/2014/main" id="{289130D2-3191-B598-665F-2752335CECD1}"/>
              </a:ext>
            </a:extLst>
          </p:cNvPr>
          <p:cNvPicPr>
            <a:picLocks noChangeAspect="1"/>
          </p:cNvPicPr>
          <p:nvPr/>
        </p:nvPicPr>
        <p:blipFill>
          <a:blip r:embed="rId3"/>
          <a:stretch>
            <a:fillRect/>
          </a:stretch>
        </p:blipFill>
        <p:spPr>
          <a:xfrm>
            <a:off x="3966399" y="3713351"/>
            <a:ext cx="7779150" cy="3054507"/>
          </a:xfrm>
          <a:prstGeom prst="rect">
            <a:avLst/>
          </a:prstGeom>
        </p:spPr>
      </p:pic>
    </p:spTree>
    <p:extLst>
      <p:ext uri="{BB962C8B-B14F-4D97-AF65-F5344CB8AC3E}">
        <p14:creationId xmlns:p14="http://schemas.microsoft.com/office/powerpoint/2010/main" val="19427289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0E8533-1159-4810-FA3A-2A3635B5B0BA}"/>
              </a:ext>
            </a:extLst>
          </p:cNvPr>
          <p:cNvSpPr>
            <a:spLocks noGrp="1"/>
          </p:cNvSpPr>
          <p:nvPr>
            <p:ph sz="quarter" idx="13"/>
          </p:nvPr>
        </p:nvSpPr>
        <p:spPr>
          <a:xfrm>
            <a:off x="64787" y="73150"/>
            <a:ext cx="3186216" cy="6784850"/>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p>
          <a:p>
            <a:pPr marL="0" indent="0">
              <a:buNone/>
            </a:pPr>
            <a:r>
              <a:rPr lang="en-US" sz="1800" cap="none" dirty="0">
                <a:latin typeface="Calibri" panose="020F0502020204030204" pitchFamily="34" charset="0"/>
                <a:ea typeface="Calibri" panose="020F0502020204030204" pitchFamily="34" charset="0"/>
                <a:cs typeface="Calibri" panose="020F0502020204030204" pitchFamily="34" charset="0"/>
              </a:rPr>
              <a:t>The attrition rate of:</a:t>
            </a:r>
          </a:p>
          <a:p>
            <a:r>
              <a:rPr lang="en-US" sz="1800" cap="none" dirty="0">
                <a:latin typeface="Calibri" panose="020F0502020204030204" pitchFamily="34" charset="0"/>
                <a:ea typeface="Calibri" panose="020F0502020204030204" pitchFamily="34" charset="0"/>
                <a:cs typeface="Calibri" panose="020F0502020204030204" pitchFamily="34" charset="0"/>
              </a:rPr>
              <a:t>Those who do not have good relationship with their mates and do not do overtime are more likely to leave while those that are more</a:t>
            </a:r>
          </a:p>
          <a:p>
            <a:r>
              <a:rPr lang="en-US" sz="1800" cap="none" dirty="0">
                <a:latin typeface="Calibri" panose="020F0502020204030204" pitchFamily="34" charset="0"/>
                <a:ea typeface="Calibri" panose="020F0502020204030204" pitchFamily="34" charset="0"/>
                <a:cs typeface="Calibri" panose="020F0502020204030204" pitchFamily="34" charset="0"/>
              </a:rPr>
              <a:t>Those with high stock options and do overtime leave more</a:t>
            </a:r>
          </a:p>
          <a:p>
            <a:r>
              <a:rPr lang="en-US" sz="1800" cap="none" dirty="0">
                <a:latin typeface="Calibri" panose="020F0502020204030204" pitchFamily="34" charset="0"/>
                <a:ea typeface="Calibri" panose="020F0502020204030204" pitchFamily="34" charset="0"/>
                <a:cs typeface="Calibri" panose="020F0502020204030204" pitchFamily="34" charset="0"/>
              </a:rPr>
              <a:t>Those with poor work life balance and do not do overtime leaves more this also applies to those with excellent work life balance</a:t>
            </a:r>
          </a:p>
          <a:p>
            <a:r>
              <a:rPr lang="en-US" sz="1800" cap="none" dirty="0">
                <a:latin typeface="Calibri" panose="020F0502020204030204" pitchFamily="34" charset="0"/>
                <a:ea typeface="Calibri" panose="020F0502020204030204" pitchFamily="34" charset="0"/>
                <a:cs typeface="Calibri" panose="020F0502020204030204" pitchFamily="34" charset="0"/>
              </a:rPr>
              <a:t>Low daily rates who do not accept overtime tends to leave unlike the other categories</a:t>
            </a:r>
          </a:p>
        </p:txBody>
      </p:sp>
      <p:pic>
        <p:nvPicPr>
          <p:cNvPr id="5" name="Picture 4">
            <a:extLst>
              <a:ext uri="{FF2B5EF4-FFF2-40B4-BE49-F238E27FC236}">
                <a16:creationId xmlns:a16="http://schemas.microsoft.com/office/drawing/2014/main" id="{22D93279-7F71-80F3-37C0-308CF860C120}"/>
              </a:ext>
            </a:extLst>
          </p:cNvPr>
          <p:cNvPicPr>
            <a:picLocks noChangeAspect="1"/>
          </p:cNvPicPr>
          <p:nvPr/>
        </p:nvPicPr>
        <p:blipFill>
          <a:blip r:embed="rId2"/>
          <a:stretch>
            <a:fillRect/>
          </a:stretch>
        </p:blipFill>
        <p:spPr>
          <a:xfrm>
            <a:off x="7852630" y="573651"/>
            <a:ext cx="4147151" cy="2431220"/>
          </a:xfrm>
          <a:prstGeom prst="rect">
            <a:avLst/>
          </a:prstGeom>
        </p:spPr>
      </p:pic>
      <p:pic>
        <p:nvPicPr>
          <p:cNvPr id="7" name="Picture 6">
            <a:extLst>
              <a:ext uri="{FF2B5EF4-FFF2-40B4-BE49-F238E27FC236}">
                <a16:creationId xmlns:a16="http://schemas.microsoft.com/office/drawing/2014/main" id="{9CBEA19A-449F-1B87-0CE9-E1344F2FEA2C}"/>
              </a:ext>
            </a:extLst>
          </p:cNvPr>
          <p:cNvPicPr>
            <a:picLocks noChangeAspect="1"/>
          </p:cNvPicPr>
          <p:nvPr/>
        </p:nvPicPr>
        <p:blipFill>
          <a:blip r:embed="rId3"/>
          <a:stretch>
            <a:fillRect/>
          </a:stretch>
        </p:blipFill>
        <p:spPr>
          <a:xfrm>
            <a:off x="7831536" y="3630913"/>
            <a:ext cx="4295677" cy="2431220"/>
          </a:xfrm>
          <a:prstGeom prst="rect">
            <a:avLst/>
          </a:prstGeom>
        </p:spPr>
      </p:pic>
      <p:pic>
        <p:nvPicPr>
          <p:cNvPr id="9" name="Picture 8">
            <a:extLst>
              <a:ext uri="{FF2B5EF4-FFF2-40B4-BE49-F238E27FC236}">
                <a16:creationId xmlns:a16="http://schemas.microsoft.com/office/drawing/2014/main" id="{3B9C382D-63EB-60E3-555E-94035C0D881A}"/>
              </a:ext>
            </a:extLst>
          </p:cNvPr>
          <p:cNvPicPr>
            <a:picLocks noChangeAspect="1"/>
          </p:cNvPicPr>
          <p:nvPr/>
        </p:nvPicPr>
        <p:blipFill>
          <a:blip r:embed="rId4"/>
          <a:stretch>
            <a:fillRect/>
          </a:stretch>
        </p:blipFill>
        <p:spPr>
          <a:xfrm>
            <a:off x="3429846" y="3630913"/>
            <a:ext cx="4222847" cy="2431220"/>
          </a:xfrm>
          <a:prstGeom prst="rect">
            <a:avLst/>
          </a:prstGeom>
        </p:spPr>
      </p:pic>
      <p:pic>
        <p:nvPicPr>
          <p:cNvPr id="11" name="Picture 10">
            <a:extLst>
              <a:ext uri="{FF2B5EF4-FFF2-40B4-BE49-F238E27FC236}">
                <a16:creationId xmlns:a16="http://schemas.microsoft.com/office/drawing/2014/main" id="{A324D32E-8977-63EA-A247-ED7521802EC1}"/>
              </a:ext>
            </a:extLst>
          </p:cNvPr>
          <p:cNvPicPr>
            <a:picLocks noChangeAspect="1"/>
          </p:cNvPicPr>
          <p:nvPr/>
        </p:nvPicPr>
        <p:blipFill>
          <a:blip r:embed="rId5"/>
          <a:stretch>
            <a:fillRect/>
          </a:stretch>
        </p:blipFill>
        <p:spPr>
          <a:xfrm>
            <a:off x="3296470" y="795867"/>
            <a:ext cx="4356223" cy="2522024"/>
          </a:xfrm>
          <a:prstGeom prst="rect">
            <a:avLst/>
          </a:prstGeom>
        </p:spPr>
      </p:pic>
    </p:spTree>
    <p:extLst>
      <p:ext uri="{BB962C8B-B14F-4D97-AF65-F5344CB8AC3E}">
        <p14:creationId xmlns:p14="http://schemas.microsoft.com/office/powerpoint/2010/main" val="39534668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4676C3-4666-EE56-D0DA-63C153AAB819}"/>
              </a:ext>
            </a:extLst>
          </p:cNvPr>
          <p:cNvSpPr>
            <a:spLocks noGrp="1"/>
          </p:cNvSpPr>
          <p:nvPr>
            <p:ph sz="quarter" idx="13"/>
          </p:nvPr>
        </p:nvSpPr>
        <p:spPr>
          <a:xfrm>
            <a:off x="67131" y="-4916"/>
            <a:ext cx="3748637" cy="6862916"/>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p>
          <a:p>
            <a:r>
              <a:rPr lang="en-US" sz="1800" cap="none" dirty="0">
                <a:latin typeface="Calibri" panose="020F0502020204030204" pitchFamily="34" charset="0"/>
                <a:ea typeface="Calibri" panose="020F0502020204030204" pitchFamily="34" charset="0"/>
                <a:cs typeface="Calibri" panose="020F0502020204030204" pitchFamily="34" charset="0"/>
              </a:rPr>
              <a:t>Sales executives who are medium earners depart at a more higher rate</a:t>
            </a:r>
          </a:p>
          <a:p>
            <a:r>
              <a:rPr lang="en-US" sz="1800" cap="none" dirty="0">
                <a:latin typeface="Calibri" panose="020F0502020204030204" pitchFamily="34" charset="0"/>
                <a:ea typeface="Calibri" panose="020F0502020204030204" pitchFamily="34" charset="0"/>
                <a:cs typeface="Calibri" panose="020F0502020204030204" pitchFamily="34" charset="0"/>
              </a:rPr>
              <a:t>Only low income earners in research scientist and sales rep role leave</a:t>
            </a:r>
          </a:p>
          <a:p>
            <a:r>
              <a:rPr lang="en-US" sz="1800" cap="none" dirty="0">
                <a:latin typeface="Calibri" panose="020F0502020204030204" pitchFamily="34" charset="0"/>
                <a:ea typeface="Calibri" panose="020F0502020204030204" pitchFamily="34" charset="0"/>
                <a:cs typeface="Calibri" panose="020F0502020204030204" pitchFamily="34" charset="0"/>
              </a:rPr>
              <a:t>Only high and executive earners who are best performing do not bother to leave</a:t>
            </a:r>
          </a:p>
          <a:p>
            <a:r>
              <a:rPr lang="en-US" sz="1800" cap="none" dirty="0">
                <a:latin typeface="Calibri" panose="020F0502020204030204" pitchFamily="34" charset="0"/>
                <a:ea typeface="Calibri" panose="020F0502020204030204" pitchFamily="34" charset="0"/>
                <a:cs typeface="Calibri" panose="020F0502020204030204" pitchFamily="34" charset="0"/>
              </a:rPr>
              <a:t>Young adults/adults who earn high to executive salaries do not exit the company</a:t>
            </a:r>
          </a:p>
          <a:p>
            <a:r>
              <a:rPr lang="en-US" sz="1800" cap="none" dirty="0">
                <a:latin typeface="Calibri" panose="020F0502020204030204" pitchFamily="34" charset="0"/>
                <a:ea typeface="Calibri" panose="020F0502020204030204" pitchFamily="34" charset="0"/>
                <a:cs typeface="Calibri" panose="020F0502020204030204" pitchFamily="34" charset="0"/>
              </a:rPr>
              <a:t>Seniors who earn medium salary wages are least likely to leave</a:t>
            </a:r>
          </a:p>
          <a:p>
            <a:r>
              <a:rPr lang="en-US" sz="1800" cap="none" dirty="0">
                <a:latin typeface="Calibri" panose="020F0502020204030204" pitchFamily="34" charset="0"/>
                <a:ea typeface="Calibri" panose="020F0502020204030204" pitchFamily="34" charset="0"/>
                <a:cs typeface="Calibri" panose="020F0502020204030204" pitchFamily="34" charset="0"/>
              </a:rPr>
              <a:t>As distance increases, executive and high earners tend to commit to staying unlike others</a:t>
            </a:r>
          </a:p>
          <a:p>
            <a:endParaRPr lang="en-US" sz="1800" cap="none" dirty="0">
              <a:latin typeface="Calibri" panose="020F0502020204030204" pitchFamily="34" charset="0"/>
              <a:ea typeface="Calibri" panose="020F0502020204030204" pitchFamily="34" charset="0"/>
              <a:cs typeface="Calibri" panose="020F0502020204030204" pitchFamily="34" charset="0"/>
            </a:endParaRPr>
          </a:p>
          <a:p>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D6678A08-E485-39C6-5810-B9E2B48E2067}"/>
              </a:ext>
            </a:extLst>
          </p:cNvPr>
          <p:cNvPicPr>
            <a:picLocks noChangeAspect="1"/>
          </p:cNvPicPr>
          <p:nvPr/>
        </p:nvPicPr>
        <p:blipFill>
          <a:blip r:embed="rId2"/>
          <a:stretch>
            <a:fillRect/>
          </a:stretch>
        </p:blipFill>
        <p:spPr>
          <a:xfrm>
            <a:off x="8165300" y="3530813"/>
            <a:ext cx="3851028" cy="2250555"/>
          </a:xfrm>
          <a:prstGeom prst="rect">
            <a:avLst/>
          </a:prstGeom>
        </p:spPr>
      </p:pic>
      <p:pic>
        <p:nvPicPr>
          <p:cNvPr id="9" name="Picture 8">
            <a:extLst>
              <a:ext uri="{FF2B5EF4-FFF2-40B4-BE49-F238E27FC236}">
                <a16:creationId xmlns:a16="http://schemas.microsoft.com/office/drawing/2014/main" id="{F80DE140-4AAB-263E-F764-0FF8EE9A683C}"/>
              </a:ext>
            </a:extLst>
          </p:cNvPr>
          <p:cNvPicPr>
            <a:picLocks noChangeAspect="1"/>
          </p:cNvPicPr>
          <p:nvPr/>
        </p:nvPicPr>
        <p:blipFill>
          <a:blip r:embed="rId3"/>
          <a:stretch>
            <a:fillRect/>
          </a:stretch>
        </p:blipFill>
        <p:spPr>
          <a:xfrm>
            <a:off x="3880802" y="678827"/>
            <a:ext cx="3959252" cy="2300347"/>
          </a:xfrm>
          <a:prstGeom prst="rect">
            <a:avLst/>
          </a:prstGeom>
        </p:spPr>
      </p:pic>
      <p:pic>
        <p:nvPicPr>
          <p:cNvPr id="11" name="Picture 10">
            <a:extLst>
              <a:ext uri="{FF2B5EF4-FFF2-40B4-BE49-F238E27FC236}">
                <a16:creationId xmlns:a16="http://schemas.microsoft.com/office/drawing/2014/main" id="{59AEFD67-A765-AAD8-5AE0-A2757A3501C8}"/>
              </a:ext>
            </a:extLst>
          </p:cNvPr>
          <p:cNvPicPr>
            <a:picLocks noChangeAspect="1"/>
          </p:cNvPicPr>
          <p:nvPr/>
        </p:nvPicPr>
        <p:blipFill>
          <a:blip r:embed="rId4"/>
          <a:stretch>
            <a:fillRect/>
          </a:stretch>
        </p:blipFill>
        <p:spPr>
          <a:xfrm>
            <a:off x="3945969" y="3737921"/>
            <a:ext cx="4074859" cy="2407871"/>
          </a:xfrm>
          <a:prstGeom prst="rect">
            <a:avLst/>
          </a:prstGeom>
        </p:spPr>
      </p:pic>
      <p:pic>
        <p:nvPicPr>
          <p:cNvPr id="12" name="Picture 11">
            <a:extLst>
              <a:ext uri="{FF2B5EF4-FFF2-40B4-BE49-F238E27FC236}">
                <a16:creationId xmlns:a16="http://schemas.microsoft.com/office/drawing/2014/main" id="{EEBCBAD7-4A9C-A1D3-776D-D2EAA822EB0F}"/>
              </a:ext>
            </a:extLst>
          </p:cNvPr>
          <p:cNvPicPr>
            <a:picLocks noChangeAspect="1"/>
          </p:cNvPicPr>
          <p:nvPr/>
        </p:nvPicPr>
        <p:blipFill>
          <a:blip r:embed="rId5"/>
          <a:stretch>
            <a:fillRect/>
          </a:stretch>
        </p:blipFill>
        <p:spPr>
          <a:xfrm>
            <a:off x="7905087" y="492645"/>
            <a:ext cx="4061993" cy="2407871"/>
          </a:xfrm>
          <a:prstGeom prst="rect">
            <a:avLst/>
          </a:prstGeom>
        </p:spPr>
      </p:pic>
    </p:spTree>
    <p:extLst>
      <p:ext uri="{BB962C8B-B14F-4D97-AF65-F5344CB8AC3E}">
        <p14:creationId xmlns:p14="http://schemas.microsoft.com/office/powerpoint/2010/main" val="570210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7EAF05-B442-42BC-2D7A-DE3F53D23062}"/>
              </a:ext>
            </a:extLst>
          </p:cNvPr>
          <p:cNvSpPr>
            <a:spLocks noGrp="1"/>
          </p:cNvSpPr>
          <p:nvPr>
            <p:ph sz="quarter" idx="13"/>
          </p:nvPr>
        </p:nvSpPr>
        <p:spPr>
          <a:xfrm>
            <a:off x="61247" y="1031473"/>
            <a:ext cx="3697129" cy="5919476"/>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cap="none" dirty="0">
              <a:latin typeface="Calibri" panose="020F0502020204030204" pitchFamily="34" charset="0"/>
              <a:ea typeface="Calibri" panose="020F0502020204030204" pitchFamily="34" charset="0"/>
              <a:cs typeface="Calibri" panose="020F0502020204030204" pitchFamily="34" charset="0"/>
            </a:endParaRPr>
          </a:p>
          <a:p>
            <a:r>
              <a:rPr lang="en-US" sz="1800" cap="none" dirty="0">
                <a:latin typeface="Calibri" panose="020F0502020204030204" pitchFamily="34" charset="0"/>
                <a:ea typeface="Calibri" panose="020F0502020204030204" pitchFamily="34" charset="0"/>
                <a:cs typeface="Calibri" panose="020F0502020204030204" pitchFamily="34" charset="0"/>
              </a:rPr>
              <a:t>Executive and medium earners who have stagnated do not leave</a:t>
            </a:r>
          </a:p>
          <a:p>
            <a:r>
              <a:rPr lang="en-US" sz="1800" cap="none" dirty="0">
                <a:latin typeface="Calibri" panose="020F0502020204030204" pitchFamily="34" charset="0"/>
                <a:ea typeface="Calibri" panose="020F0502020204030204" pitchFamily="34" charset="0"/>
                <a:cs typeface="Calibri" panose="020F0502020204030204" pitchFamily="34" charset="0"/>
              </a:rPr>
              <a:t>Most people that leave from human resources dept are those that are married or divorced</a:t>
            </a:r>
          </a:p>
          <a:p>
            <a:r>
              <a:rPr lang="en-US" sz="1800" cap="none" dirty="0">
                <a:latin typeface="Calibri" panose="020F0502020204030204" pitchFamily="34" charset="0"/>
                <a:ea typeface="Calibri" panose="020F0502020204030204" pitchFamily="34" charset="0"/>
                <a:cs typeface="Calibri" panose="020F0502020204030204" pitchFamily="34" charset="0"/>
              </a:rPr>
              <a:t>Most married staffs that have attained the highest level of education are mostly the ones that leaves compared to their counterparts</a:t>
            </a:r>
          </a:p>
          <a:p>
            <a:r>
              <a:rPr lang="en-US" sz="1800" cap="none" dirty="0">
                <a:latin typeface="Calibri" panose="020F0502020204030204" pitchFamily="34" charset="0"/>
                <a:ea typeface="Calibri" panose="020F0502020204030204" pitchFamily="34" charset="0"/>
                <a:cs typeface="Calibri" panose="020F0502020204030204" pitchFamily="34" charset="0"/>
              </a:rPr>
              <a:t>Executive earners who are divorced do not leave </a:t>
            </a:r>
          </a:p>
          <a:p>
            <a:r>
              <a:rPr lang="en-US" sz="1800" cap="none" dirty="0">
                <a:latin typeface="Calibri" panose="020F0502020204030204" pitchFamily="34" charset="0"/>
                <a:ea typeface="Calibri" panose="020F0502020204030204" pitchFamily="34" charset="0"/>
                <a:cs typeface="Calibri" panose="020F0502020204030204" pitchFamily="34" charset="0"/>
              </a:rPr>
              <a:t>Those who earn ‘high’ wage leaves at a higher rate.</a:t>
            </a:r>
          </a:p>
          <a:p>
            <a:pPr marL="0" indent="0">
              <a:buNone/>
            </a:pPr>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3BC12559-2B14-6C4D-B482-17D82CFE4462}"/>
              </a:ext>
            </a:extLst>
          </p:cNvPr>
          <p:cNvPicPr>
            <a:picLocks noChangeAspect="1"/>
          </p:cNvPicPr>
          <p:nvPr/>
        </p:nvPicPr>
        <p:blipFill>
          <a:blip r:embed="rId2"/>
          <a:stretch>
            <a:fillRect/>
          </a:stretch>
        </p:blipFill>
        <p:spPr>
          <a:xfrm>
            <a:off x="7994863" y="383001"/>
            <a:ext cx="4022638" cy="2339773"/>
          </a:xfrm>
          <a:prstGeom prst="rect">
            <a:avLst/>
          </a:prstGeom>
        </p:spPr>
      </p:pic>
      <p:pic>
        <p:nvPicPr>
          <p:cNvPr id="7" name="Picture 6">
            <a:extLst>
              <a:ext uri="{FF2B5EF4-FFF2-40B4-BE49-F238E27FC236}">
                <a16:creationId xmlns:a16="http://schemas.microsoft.com/office/drawing/2014/main" id="{A16A31AB-2BB6-A2A6-AB7C-3CC7C428925A}"/>
              </a:ext>
            </a:extLst>
          </p:cNvPr>
          <p:cNvPicPr>
            <a:picLocks noChangeAspect="1"/>
          </p:cNvPicPr>
          <p:nvPr/>
        </p:nvPicPr>
        <p:blipFill>
          <a:blip r:embed="rId3"/>
          <a:stretch>
            <a:fillRect/>
          </a:stretch>
        </p:blipFill>
        <p:spPr>
          <a:xfrm>
            <a:off x="7987405" y="3598912"/>
            <a:ext cx="4143348" cy="2339772"/>
          </a:xfrm>
          <a:prstGeom prst="rect">
            <a:avLst/>
          </a:prstGeom>
        </p:spPr>
      </p:pic>
      <p:pic>
        <p:nvPicPr>
          <p:cNvPr id="9" name="Picture 8">
            <a:extLst>
              <a:ext uri="{FF2B5EF4-FFF2-40B4-BE49-F238E27FC236}">
                <a16:creationId xmlns:a16="http://schemas.microsoft.com/office/drawing/2014/main" id="{6C1CE6B4-C98A-131D-34BE-24681AB39DD8}"/>
              </a:ext>
            </a:extLst>
          </p:cNvPr>
          <p:cNvPicPr>
            <a:picLocks noChangeAspect="1"/>
          </p:cNvPicPr>
          <p:nvPr/>
        </p:nvPicPr>
        <p:blipFill>
          <a:blip r:embed="rId4"/>
          <a:stretch>
            <a:fillRect/>
          </a:stretch>
        </p:blipFill>
        <p:spPr>
          <a:xfrm>
            <a:off x="3840589" y="3598912"/>
            <a:ext cx="4064603" cy="2339772"/>
          </a:xfrm>
          <a:prstGeom prst="rect">
            <a:avLst/>
          </a:prstGeom>
        </p:spPr>
      </p:pic>
      <p:pic>
        <p:nvPicPr>
          <p:cNvPr id="11" name="Picture 10">
            <a:extLst>
              <a:ext uri="{FF2B5EF4-FFF2-40B4-BE49-F238E27FC236}">
                <a16:creationId xmlns:a16="http://schemas.microsoft.com/office/drawing/2014/main" id="{1CBB60AE-E730-C32E-37BA-41AE865B85A4}"/>
              </a:ext>
            </a:extLst>
          </p:cNvPr>
          <p:cNvPicPr>
            <a:picLocks noChangeAspect="1"/>
          </p:cNvPicPr>
          <p:nvPr/>
        </p:nvPicPr>
        <p:blipFill>
          <a:blip r:embed="rId5"/>
          <a:stretch>
            <a:fillRect/>
          </a:stretch>
        </p:blipFill>
        <p:spPr>
          <a:xfrm>
            <a:off x="3771078" y="471492"/>
            <a:ext cx="4134113" cy="2409360"/>
          </a:xfrm>
          <a:prstGeom prst="rect">
            <a:avLst/>
          </a:prstGeom>
        </p:spPr>
      </p:pic>
    </p:spTree>
    <p:extLst>
      <p:ext uri="{BB962C8B-B14F-4D97-AF65-F5344CB8AC3E}">
        <p14:creationId xmlns:p14="http://schemas.microsoft.com/office/powerpoint/2010/main" val="3743343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757EA3-9338-9B96-E6ED-1625837E177E}"/>
              </a:ext>
            </a:extLst>
          </p:cNvPr>
          <p:cNvSpPr>
            <a:spLocks noGrp="1"/>
          </p:cNvSpPr>
          <p:nvPr>
            <p:ph sz="quarter" idx="13"/>
          </p:nvPr>
        </p:nvSpPr>
        <p:spPr>
          <a:xfrm>
            <a:off x="205851" y="1657712"/>
            <a:ext cx="2606174" cy="4566108"/>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cap="none" dirty="0">
              <a:latin typeface="Calibri" panose="020F0502020204030204" pitchFamily="34" charset="0"/>
              <a:ea typeface="Calibri" panose="020F0502020204030204" pitchFamily="34" charset="0"/>
              <a:cs typeface="Calibri" panose="020F0502020204030204" pitchFamily="34" charset="0"/>
            </a:endParaRPr>
          </a:p>
          <a:p>
            <a:r>
              <a:rPr lang="en-US" sz="1800" cap="none" dirty="0">
                <a:latin typeface="Calibri" panose="020F0502020204030204" pitchFamily="34" charset="0"/>
                <a:ea typeface="Calibri" panose="020F0502020204030204" pitchFamily="34" charset="0"/>
                <a:cs typeface="Calibri" panose="020F0502020204030204" pitchFamily="34" charset="0"/>
              </a:rPr>
              <a:t>People that are single or married are more likely to exit</a:t>
            </a:r>
          </a:p>
          <a:p>
            <a:r>
              <a:rPr lang="en-US" sz="1800" cap="none" dirty="0">
                <a:latin typeface="Calibri" panose="020F0502020204030204" pitchFamily="34" charset="0"/>
                <a:ea typeface="Calibri" panose="020F0502020204030204" pitchFamily="34" charset="0"/>
                <a:cs typeface="Calibri" panose="020F0502020204030204" pitchFamily="34" charset="0"/>
              </a:rPr>
              <a:t>Single persons without stock options accounts for all the single staffs that exit the company</a:t>
            </a:r>
          </a:p>
          <a:p>
            <a:r>
              <a:rPr lang="en-US" sz="1800" cap="none" dirty="0">
                <a:latin typeface="Calibri" panose="020F0502020204030204" pitchFamily="34" charset="0"/>
                <a:ea typeface="Calibri" panose="020F0502020204030204" pitchFamily="34" charset="0"/>
                <a:cs typeface="Calibri" panose="020F0502020204030204" pitchFamily="34" charset="0"/>
              </a:rPr>
              <a:t>Divorced managers and research directors do not like to exit</a:t>
            </a:r>
          </a:p>
          <a:p>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7128608D-9AD4-88B9-DF00-34A35E5F29A5}"/>
              </a:ext>
            </a:extLst>
          </p:cNvPr>
          <p:cNvPicPr>
            <a:picLocks noChangeAspect="1"/>
          </p:cNvPicPr>
          <p:nvPr/>
        </p:nvPicPr>
        <p:blipFill>
          <a:blip r:embed="rId2"/>
          <a:stretch>
            <a:fillRect/>
          </a:stretch>
        </p:blipFill>
        <p:spPr>
          <a:xfrm>
            <a:off x="5145355" y="3155745"/>
            <a:ext cx="5353664" cy="3430939"/>
          </a:xfrm>
          <a:prstGeom prst="rect">
            <a:avLst/>
          </a:prstGeom>
        </p:spPr>
      </p:pic>
      <p:pic>
        <p:nvPicPr>
          <p:cNvPr id="11" name="Picture 10">
            <a:extLst>
              <a:ext uri="{FF2B5EF4-FFF2-40B4-BE49-F238E27FC236}">
                <a16:creationId xmlns:a16="http://schemas.microsoft.com/office/drawing/2014/main" id="{1B47FB7A-36D3-80D6-2FAA-642CCF05F42D}"/>
              </a:ext>
            </a:extLst>
          </p:cNvPr>
          <p:cNvPicPr>
            <a:picLocks noChangeAspect="1"/>
          </p:cNvPicPr>
          <p:nvPr/>
        </p:nvPicPr>
        <p:blipFill>
          <a:blip r:embed="rId3"/>
          <a:stretch>
            <a:fillRect/>
          </a:stretch>
        </p:blipFill>
        <p:spPr>
          <a:xfrm>
            <a:off x="2964122" y="167604"/>
            <a:ext cx="9154054" cy="2595260"/>
          </a:xfrm>
          <a:prstGeom prst="rect">
            <a:avLst/>
          </a:prstGeom>
        </p:spPr>
      </p:pic>
    </p:spTree>
    <p:extLst>
      <p:ext uri="{BB962C8B-B14F-4D97-AF65-F5344CB8AC3E}">
        <p14:creationId xmlns:p14="http://schemas.microsoft.com/office/powerpoint/2010/main" val="4454556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E96297-EF8D-5D1C-92A9-8B2785C74EB0}"/>
              </a:ext>
            </a:extLst>
          </p:cNvPr>
          <p:cNvSpPr>
            <a:spLocks noGrp="1"/>
          </p:cNvSpPr>
          <p:nvPr>
            <p:ph sz="quarter" idx="13"/>
          </p:nvPr>
        </p:nvSpPr>
        <p:spPr>
          <a:xfrm>
            <a:off x="225516" y="1816486"/>
            <a:ext cx="2941946" cy="3424107"/>
          </a:xfrm>
        </p:spPr>
        <p:txBody>
          <a:bodyPr>
            <a:norm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endParaRPr lang="en-US" sz="1800" cap="none" dirty="0">
              <a:latin typeface="Calibri" panose="020F0502020204030204" pitchFamily="34" charset="0"/>
              <a:ea typeface="Calibri" panose="020F0502020204030204" pitchFamily="34" charset="0"/>
              <a:cs typeface="Calibri" panose="020F0502020204030204" pitchFamily="34" charset="0"/>
            </a:endParaRPr>
          </a:p>
          <a:p>
            <a:r>
              <a:rPr lang="en-US" sz="1800" cap="none" dirty="0">
                <a:latin typeface="Calibri" panose="020F0502020204030204" pitchFamily="34" charset="0"/>
                <a:ea typeface="Calibri" panose="020F0502020204030204" pitchFamily="34" charset="0"/>
                <a:cs typeface="Calibri" panose="020F0502020204030204" pitchFamily="34" charset="0"/>
              </a:rPr>
              <a:t>People that leave from human resource department don’t do overtime</a:t>
            </a:r>
          </a:p>
          <a:p>
            <a:r>
              <a:rPr lang="en-US" sz="1800" cap="none" dirty="0">
                <a:latin typeface="Calibri" panose="020F0502020204030204" pitchFamily="34" charset="0"/>
                <a:ea typeface="Calibri" panose="020F0502020204030204" pitchFamily="34" charset="0"/>
                <a:cs typeface="Calibri" panose="020F0502020204030204" pitchFamily="34" charset="0"/>
              </a:rPr>
              <a:t>Men tend to exist more from research and development</a:t>
            </a:r>
          </a:p>
        </p:txBody>
      </p:sp>
      <p:pic>
        <p:nvPicPr>
          <p:cNvPr id="9" name="Picture 8">
            <a:extLst>
              <a:ext uri="{FF2B5EF4-FFF2-40B4-BE49-F238E27FC236}">
                <a16:creationId xmlns:a16="http://schemas.microsoft.com/office/drawing/2014/main" id="{9B10C6F0-AD4F-A3C4-F30C-644A5EBF1B15}"/>
              </a:ext>
            </a:extLst>
          </p:cNvPr>
          <p:cNvPicPr>
            <a:picLocks noChangeAspect="1"/>
          </p:cNvPicPr>
          <p:nvPr/>
        </p:nvPicPr>
        <p:blipFill>
          <a:blip r:embed="rId2"/>
          <a:srcRect t="3205"/>
          <a:stretch/>
        </p:blipFill>
        <p:spPr>
          <a:xfrm>
            <a:off x="3762592" y="88490"/>
            <a:ext cx="8327343" cy="2969342"/>
          </a:xfrm>
          <a:prstGeom prst="rect">
            <a:avLst/>
          </a:prstGeom>
        </p:spPr>
      </p:pic>
      <p:pic>
        <p:nvPicPr>
          <p:cNvPr id="11" name="Picture 10">
            <a:extLst>
              <a:ext uri="{FF2B5EF4-FFF2-40B4-BE49-F238E27FC236}">
                <a16:creationId xmlns:a16="http://schemas.microsoft.com/office/drawing/2014/main" id="{7140F0FC-6D0F-E142-A3B5-F8C9E9195010}"/>
              </a:ext>
            </a:extLst>
          </p:cNvPr>
          <p:cNvPicPr>
            <a:picLocks noChangeAspect="1"/>
          </p:cNvPicPr>
          <p:nvPr/>
        </p:nvPicPr>
        <p:blipFill>
          <a:blip r:embed="rId3"/>
          <a:stretch>
            <a:fillRect/>
          </a:stretch>
        </p:blipFill>
        <p:spPr>
          <a:xfrm>
            <a:off x="3762592" y="3222943"/>
            <a:ext cx="8225858" cy="3585895"/>
          </a:xfrm>
          <a:prstGeom prst="rect">
            <a:avLst/>
          </a:prstGeom>
        </p:spPr>
      </p:pic>
    </p:spTree>
    <p:extLst>
      <p:ext uri="{BB962C8B-B14F-4D97-AF65-F5344CB8AC3E}">
        <p14:creationId xmlns:p14="http://schemas.microsoft.com/office/powerpoint/2010/main" val="16306356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CCA5E2-E204-3DD8-E946-B2CC4956B07F}"/>
              </a:ext>
            </a:extLst>
          </p:cNvPr>
          <p:cNvSpPr>
            <a:spLocks noGrp="1"/>
          </p:cNvSpPr>
          <p:nvPr>
            <p:ph sz="quarter" idx="13"/>
          </p:nvPr>
        </p:nvSpPr>
        <p:spPr>
          <a:xfrm>
            <a:off x="121679" y="1659170"/>
            <a:ext cx="2788669" cy="5036598"/>
          </a:xfrm>
        </p:spPr>
        <p:txBody>
          <a:bodyPr>
            <a:no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p>
          <a:p>
            <a:r>
              <a:rPr lang="en-US" sz="1800" cap="none" dirty="0">
                <a:latin typeface="Calibri" panose="020F0502020204030204" pitchFamily="34" charset="0"/>
                <a:ea typeface="Calibri" panose="020F0502020204030204" pitchFamily="34" charset="0"/>
                <a:cs typeface="Calibri" panose="020F0502020204030204" pitchFamily="34" charset="0"/>
              </a:rPr>
              <a:t>In research and development, laboratory technicians and research scientists exit more </a:t>
            </a:r>
          </a:p>
          <a:p>
            <a:r>
              <a:rPr lang="en-US" sz="1800" cap="none" dirty="0">
                <a:latin typeface="Calibri" panose="020F0502020204030204" pitchFamily="34" charset="0"/>
                <a:ea typeface="Calibri" panose="020F0502020204030204" pitchFamily="34" charset="0"/>
                <a:cs typeface="Calibri" panose="020F0502020204030204" pitchFamily="34" charset="0"/>
              </a:rPr>
              <a:t>Entry level research and development department tend to exit more </a:t>
            </a:r>
          </a:p>
          <a:p>
            <a:r>
              <a:rPr lang="en-US" sz="1800" cap="none" dirty="0">
                <a:latin typeface="Calibri" panose="020F0502020204030204" pitchFamily="34" charset="0"/>
                <a:ea typeface="Calibri" panose="020F0502020204030204" pitchFamily="34" charset="0"/>
                <a:cs typeface="Calibri" panose="020F0502020204030204" pitchFamily="34" charset="0"/>
              </a:rPr>
              <a:t>Sales exit more at other levels</a:t>
            </a:r>
          </a:p>
          <a:p>
            <a:r>
              <a:rPr lang="en-US" sz="1800" cap="none" dirty="0">
                <a:latin typeface="Calibri" panose="020F0502020204030204" pitchFamily="34" charset="0"/>
                <a:ea typeface="Calibri" panose="020F0502020204030204" pitchFamily="34" charset="0"/>
                <a:cs typeface="Calibri" panose="020F0502020204030204" pitchFamily="34" charset="0"/>
              </a:rPr>
              <a:t>Only job level 1 and 3 exit from human resource department</a:t>
            </a:r>
          </a:p>
        </p:txBody>
      </p:sp>
      <p:pic>
        <p:nvPicPr>
          <p:cNvPr id="5" name="Picture 4">
            <a:extLst>
              <a:ext uri="{FF2B5EF4-FFF2-40B4-BE49-F238E27FC236}">
                <a16:creationId xmlns:a16="http://schemas.microsoft.com/office/drawing/2014/main" id="{7410402B-03CE-14DF-62E2-A5330DBEDE27}"/>
              </a:ext>
            </a:extLst>
          </p:cNvPr>
          <p:cNvPicPr>
            <a:picLocks noChangeAspect="1"/>
          </p:cNvPicPr>
          <p:nvPr/>
        </p:nvPicPr>
        <p:blipFill>
          <a:blip r:embed="rId2"/>
          <a:stretch>
            <a:fillRect/>
          </a:stretch>
        </p:blipFill>
        <p:spPr>
          <a:xfrm>
            <a:off x="3156155" y="0"/>
            <a:ext cx="8914166" cy="2743200"/>
          </a:xfrm>
          <a:prstGeom prst="rect">
            <a:avLst/>
          </a:prstGeom>
        </p:spPr>
      </p:pic>
      <p:pic>
        <p:nvPicPr>
          <p:cNvPr id="7" name="Picture 6">
            <a:extLst>
              <a:ext uri="{FF2B5EF4-FFF2-40B4-BE49-F238E27FC236}">
                <a16:creationId xmlns:a16="http://schemas.microsoft.com/office/drawing/2014/main" id="{BA166171-3D21-78CF-D991-6C727F00B80E}"/>
              </a:ext>
            </a:extLst>
          </p:cNvPr>
          <p:cNvPicPr>
            <a:picLocks noChangeAspect="1"/>
          </p:cNvPicPr>
          <p:nvPr/>
        </p:nvPicPr>
        <p:blipFill>
          <a:blip r:embed="rId3"/>
          <a:stretch>
            <a:fillRect/>
          </a:stretch>
        </p:blipFill>
        <p:spPr>
          <a:xfrm>
            <a:off x="3156155" y="3428999"/>
            <a:ext cx="9024627" cy="2873477"/>
          </a:xfrm>
          <a:prstGeom prst="rect">
            <a:avLst/>
          </a:prstGeom>
        </p:spPr>
      </p:pic>
    </p:spTree>
    <p:extLst>
      <p:ext uri="{BB962C8B-B14F-4D97-AF65-F5344CB8AC3E}">
        <p14:creationId xmlns:p14="http://schemas.microsoft.com/office/powerpoint/2010/main" val="20479090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9343C3-876D-2CC0-20C3-708BE9605B0D}"/>
              </a:ext>
            </a:extLst>
          </p:cNvPr>
          <p:cNvSpPr>
            <a:spLocks noGrp="1"/>
          </p:cNvSpPr>
          <p:nvPr>
            <p:ph sz="quarter" idx="13"/>
          </p:nvPr>
        </p:nvSpPr>
        <p:spPr>
          <a:xfrm>
            <a:off x="150256" y="1631050"/>
            <a:ext cx="2750260" cy="3353906"/>
          </a:xfrm>
        </p:spPr>
        <p:txBody>
          <a:bodyPr>
            <a:normAutofit/>
          </a:bodyPr>
          <a:lstStyle/>
          <a:p>
            <a:pPr marL="0" indent="0">
              <a:buNone/>
            </a:pPr>
            <a:r>
              <a:rPr lang="en-US" sz="1800" b="1" cap="none" dirty="0">
                <a:latin typeface="Calibri" panose="020F0502020204030204" pitchFamily="34" charset="0"/>
                <a:ea typeface="Calibri" panose="020F0502020204030204" pitchFamily="34" charset="0"/>
                <a:cs typeface="Calibri" panose="020F0502020204030204" pitchFamily="34" charset="0"/>
              </a:rPr>
              <a:t>Insights:</a:t>
            </a:r>
          </a:p>
          <a:p>
            <a:r>
              <a:rPr lang="en-US" sz="1800" cap="none" dirty="0">
                <a:latin typeface="Calibri" panose="020F0502020204030204" pitchFamily="34" charset="0"/>
                <a:ea typeface="Calibri" panose="020F0502020204030204" pitchFamily="34" charset="0"/>
                <a:cs typeface="Calibri" panose="020F0502020204030204" pitchFamily="34" charset="0"/>
              </a:rPr>
              <a:t>Medium earners sales department exit more</a:t>
            </a:r>
          </a:p>
          <a:p>
            <a:r>
              <a:rPr lang="en-US" sz="1800" cap="none" dirty="0">
                <a:latin typeface="Calibri" panose="020F0502020204030204" pitchFamily="34" charset="0"/>
                <a:ea typeface="Calibri" panose="020F0502020204030204" pitchFamily="34" charset="0"/>
                <a:cs typeface="Calibri" panose="020F0502020204030204" pitchFamily="34" charset="0"/>
              </a:rPr>
              <a:t>Research and development tend to rarely attend trainings and tend to exit more</a:t>
            </a:r>
          </a:p>
        </p:txBody>
      </p:sp>
      <p:pic>
        <p:nvPicPr>
          <p:cNvPr id="7" name="Picture 6">
            <a:extLst>
              <a:ext uri="{FF2B5EF4-FFF2-40B4-BE49-F238E27FC236}">
                <a16:creationId xmlns:a16="http://schemas.microsoft.com/office/drawing/2014/main" id="{31075095-16D4-86AB-31DA-907993411527}"/>
              </a:ext>
            </a:extLst>
          </p:cNvPr>
          <p:cNvPicPr>
            <a:picLocks noChangeAspect="1"/>
          </p:cNvPicPr>
          <p:nvPr/>
        </p:nvPicPr>
        <p:blipFill>
          <a:blip r:embed="rId2"/>
          <a:stretch>
            <a:fillRect/>
          </a:stretch>
        </p:blipFill>
        <p:spPr>
          <a:xfrm>
            <a:off x="3131924" y="113072"/>
            <a:ext cx="8909820" cy="3230031"/>
          </a:xfrm>
          <a:prstGeom prst="rect">
            <a:avLst/>
          </a:prstGeom>
        </p:spPr>
      </p:pic>
      <p:pic>
        <p:nvPicPr>
          <p:cNvPr id="8" name="Picture 7">
            <a:extLst>
              <a:ext uri="{FF2B5EF4-FFF2-40B4-BE49-F238E27FC236}">
                <a16:creationId xmlns:a16="http://schemas.microsoft.com/office/drawing/2014/main" id="{C339447A-E1BA-752B-2A6E-250FDE315595}"/>
              </a:ext>
            </a:extLst>
          </p:cNvPr>
          <p:cNvPicPr>
            <a:picLocks noChangeAspect="1"/>
          </p:cNvPicPr>
          <p:nvPr/>
        </p:nvPicPr>
        <p:blipFill>
          <a:blip r:embed="rId3"/>
          <a:stretch>
            <a:fillRect/>
          </a:stretch>
        </p:blipFill>
        <p:spPr>
          <a:xfrm>
            <a:off x="4395021" y="3618271"/>
            <a:ext cx="7020232" cy="3126657"/>
          </a:xfrm>
          <a:prstGeom prst="rect">
            <a:avLst/>
          </a:prstGeom>
        </p:spPr>
      </p:pic>
    </p:spTree>
    <p:extLst>
      <p:ext uri="{BB962C8B-B14F-4D97-AF65-F5344CB8AC3E}">
        <p14:creationId xmlns:p14="http://schemas.microsoft.com/office/powerpoint/2010/main" val="4179313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4D65DF-1418-AA1A-0B46-506E2C392B75}"/>
              </a:ext>
            </a:extLst>
          </p:cNvPr>
          <p:cNvSpPr txBox="1">
            <a:spLocks/>
          </p:cNvSpPr>
          <p:nvPr/>
        </p:nvSpPr>
        <p:spPr>
          <a:xfrm>
            <a:off x="936652" y="3041855"/>
            <a:ext cx="6840664" cy="7742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3200" b="1" cap="none"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Final Thoughts and Recommendations</a:t>
            </a:r>
            <a:endParaRPr lang="en-NG" sz="32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271582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C4BEA3-B418-2A59-8118-1A3EA85EF6F2}"/>
              </a:ext>
            </a:extLst>
          </p:cNvPr>
          <p:cNvSpPr>
            <a:spLocks noGrp="1"/>
          </p:cNvSpPr>
          <p:nvPr>
            <p:ph sz="quarter" idx="13"/>
          </p:nvPr>
        </p:nvSpPr>
        <p:spPr>
          <a:xfrm>
            <a:off x="914087" y="1553498"/>
            <a:ext cx="10363826" cy="4907525"/>
          </a:xfrm>
        </p:spPr>
        <p:txBody>
          <a:bodyPr>
            <a:normAutofit/>
          </a:bodyPr>
          <a:lstStyle/>
          <a:p>
            <a:pPr marL="0" indent="0">
              <a:buNone/>
            </a:pPr>
            <a:r>
              <a:rPr lang="en-US" sz="1800" b="1" cap="none" dirty="0">
                <a:effectLst/>
                <a:latin typeface="Calibri" panose="020F0502020204030204" pitchFamily="34" charset="0"/>
                <a:ea typeface="Calibri" panose="020F0502020204030204" pitchFamily="34" charset="0"/>
                <a:cs typeface="Calibri" panose="020F0502020204030204" pitchFamily="34" charset="0"/>
              </a:rPr>
              <a:t>Likely cause</a:t>
            </a:r>
          </a:p>
          <a:p>
            <a:r>
              <a:rPr lang="en-NG" sz="1800" cap="none" dirty="0">
                <a:effectLst/>
                <a:latin typeface="Calibri" panose="020F0502020204030204" pitchFamily="34" charset="0"/>
                <a:ea typeface="Calibri" panose="020F0502020204030204" pitchFamily="34" charset="0"/>
                <a:cs typeface="Calibri" panose="020F0502020204030204" pitchFamily="34" charset="0"/>
              </a:rPr>
              <a:t>The burnout and overtime driver:   mandatory overtime (`</a:t>
            </a:r>
            <a:r>
              <a:rPr lang="en-NG" sz="1800" cap="none" dirty="0" err="1">
                <a:effectLst/>
                <a:latin typeface="Calibri" panose="020F0502020204030204" pitchFamily="34" charset="0"/>
                <a:ea typeface="Calibri" panose="020F0502020204030204" pitchFamily="34" charset="0"/>
                <a:cs typeface="Calibri" panose="020F0502020204030204" pitchFamily="34" charset="0"/>
              </a:rPr>
              <a:t>overtime_yes</a:t>
            </a:r>
            <a:r>
              <a:rPr lang="en-NG" sz="1800" cap="none" dirty="0">
                <a:effectLst/>
                <a:latin typeface="Calibri" panose="020F0502020204030204" pitchFamily="34" charset="0"/>
                <a:ea typeface="Calibri" panose="020F0502020204030204" pitchFamily="34" charset="0"/>
                <a:cs typeface="Calibri" panose="020F0502020204030204" pitchFamily="34" charset="0"/>
              </a:rPr>
              <a:t>`) acts as the primary operational catalyst for turnover. When combined with high performance demands or specific roles, it drastically increases exit velocity.</a:t>
            </a:r>
            <a:r>
              <a:rPr lang="en-US" sz="1800" cap="none" dirty="0">
                <a:effectLst/>
                <a:latin typeface="Calibri" panose="020F0502020204030204" pitchFamily="34" charset="0"/>
                <a:ea typeface="Calibri" panose="020F0502020204030204" pitchFamily="34" charset="0"/>
                <a:cs typeface="Calibri" panose="020F0502020204030204" pitchFamily="34" charset="0"/>
              </a:rPr>
              <a:t> Hence, </a:t>
            </a:r>
            <a:r>
              <a:rPr lang="en-NG" sz="1800" cap="none" dirty="0">
                <a:effectLst/>
                <a:latin typeface="Calibri" panose="020F0502020204030204" pitchFamily="34" charset="0"/>
                <a:ea typeface="Calibri" panose="020F0502020204030204" pitchFamily="34" charset="0"/>
                <a:cs typeface="Calibri" panose="020F0502020204030204" pitchFamily="34" charset="0"/>
              </a:rPr>
              <a:t>excessive reliance on overtime without compensatory support or rotational equity, leading to rapid emotional exhaustion and decreased job satisfaction across critical departments (sales</a:t>
            </a:r>
            <a:r>
              <a:rPr lang="en-US" sz="1800" cap="none" dirty="0">
                <a:effectLst/>
                <a:latin typeface="Calibri" panose="020F0502020204030204" pitchFamily="34" charset="0"/>
                <a:ea typeface="Calibri" panose="020F0502020204030204" pitchFamily="34" charset="0"/>
                <a:cs typeface="Calibri" panose="020F0502020204030204" pitchFamily="34" charset="0"/>
              </a:rPr>
              <a:t>,</a:t>
            </a:r>
            <a:r>
              <a:rPr lang="en-NG" sz="1800" cap="none" dirty="0">
                <a:effectLst/>
                <a:latin typeface="Calibri" panose="020F0502020204030204" pitchFamily="34" charset="0"/>
                <a:ea typeface="Calibri" panose="020F0502020204030204" pitchFamily="34" charset="0"/>
                <a:cs typeface="Calibri" panose="020F0502020204030204" pitchFamily="34" charset="0"/>
              </a:rPr>
              <a:t> and </a:t>
            </a:r>
            <a:r>
              <a:rPr lang="en-US" sz="1800" cap="none" dirty="0">
                <a:effectLst/>
                <a:latin typeface="Calibri" panose="020F0502020204030204" pitchFamily="34" charset="0"/>
                <a:ea typeface="Calibri" panose="020F0502020204030204" pitchFamily="34" charset="0"/>
                <a:cs typeface="Calibri" panose="020F0502020204030204" pitchFamily="34" charset="0"/>
              </a:rPr>
              <a:t>research </a:t>
            </a:r>
            <a:r>
              <a:rPr lang="en-NG" sz="1800" cap="none" dirty="0">
                <a:effectLst/>
                <a:latin typeface="Calibri" panose="020F0502020204030204" pitchFamily="34" charset="0"/>
                <a:ea typeface="Calibri" panose="020F0502020204030204" pitchFamily="34" charset="0"/>
                <a:cs typeface="Calibri" panose="020F0502020204030204" pitchFamily="34" charset="0"/>
              </a:rPr>
              <a:t>and</a:t>
            </a:r>
            <a:r>
              <a:rPr lang="en-US" sz="1800" cap="none" dirty="0">
                <a:effectLst/>
                <a:latin typeface="Calibri" panose="020F0502020204030204" pitchFamily="34" charset="0"/>
                <a:ea typeface="Calibri" panose="020F0502020204030204" pitchFamily="34" charset="0"/>
                <a:cs typeface="Calibri" panose="020F0502020204030204" pitchFamily="34" charset="0"/>
              </a:rPr>
              <a:t> </a:t>
            </a:r>
            <a:r>
              <a:rPr lang="en-NG" sz="1800" cap="none" dirty="0">
                <a:effectLst/>
                <a:latin typeface="Calibri" panose="020F0502020204030204" pitchFamily="34" charset="0"/>
                <a:ea typeface="Calibri" panose="020F0502020204030204" pitchFamily="34" charset="0"/>
                <a:cs typeface="Calibri" panose="020F0502020204030204" pitchFamily="34" charset="0"/>
              </a:rPr>
              <a:t>d</a:t>
            </a:r>
            <a:r>
              <a:rPr lang="en-US" sz="1800" cap="none" dirty="0">
                <a:effectLst/>
                <a:latin typeface="Calibri" panose="020F0502020204030204" pitchFamily="34" charset="0"/>
                <a:ea typeface="Calibri" panose="020F0502020204030204" pitchFamily="34" charset="0"/>
                <a:cs typeface="Calibri" panose="020F0502020204030204" pitchFamily="34" charset="0"/>
              </a:rPr>
              <a:t>development department</a:t>
            </a:r>
            <a:r>
              <a:rPr lang="en-NG" sz="1800" cap="none" dirty="0">
                <a:effectLst/>
                <a:latin typeface="Calibri" panose="020F0502020204030204" pitchFamily="34" charset="0"/>
                <a:ea typeface="Calibri" panose="020F0502020204030204" pitchFamily="34" charset="0"/>
                <a:cs typeface="Calibri" panose="020F0502020204030204" pitchFamily="34" charset="0"/>
              </a:rPr>
              <a:t>).</a:t>
            </a:r>
            <a:endParaRPr lang="en-US" sz="1800" cap="none"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800" kern="100" cap="none"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r>
              <a:rPr lang="en-NG" sz="1800" b="1" kern="100" cap="none" dirty="0">
                <a:effectLst/>
                <a:latin typeface="Calibri" panose="020F0502020204030204" pitchFamily="34" charset="0"/>
                <a:ea typeface="Calibri" panose="020F0502020204030204" pitchFamily="34" charset="0"/>
                <a:cs typeface="Calibri" panose="020F0502020204030204" pitchFamily="34" charset="0"/>
              </a:rPr>
              <a:t>Strategic solution:  </a:t>
            </a:r>
          </a:p>
          <a:p>
            <a:pPr>
              <a:lnSpc>
                <a:spcPct val="115000"/>
              </a:lnSpc>
              <a:spcAft>
                <a:spcPts val="800"/>
              </a:spcAft>
            </a:pP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implement strict departmental caps on consecutive weeks of mandatory overtime.</a:t>
            </a:r>
          </a:p>
          <a:p>
            <a:pPr>
              <a:lnSpc>
                <a:spcPct val="115000"/>
              </a:lnSpc>
              <a:spcAft>
                <a:spcPts val="800"/>
              </a:spcAft>
            </a:pP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Establish project-based workload balancing and conduct bi-weekly manager check-ins for high-overtime teams.</a:t>
            </a:r>
          </a:p>
          <a:p>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054666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12958-EA69-38BC-293F-C4F640DB9C9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26B560-8F71-6B49-E653-A086C71028CB}"/>
              </a:ext>
            </a:extLst>
          </p:cNvPr>
          <p:cNvSpPr>
            <a:spLocks noGrp="1"/>
          </p:cNvSpPr>
          <p:nvPr>
            <p:ph sz="quarter" idx="13"/>
          </p:nvPr>
        </p:nvSpPr>
        <p:spPr>
          <a:xfrm>
            <a:off x="1002265" y="1219200"/>
            <a:ext cx="10363826" cy="4907525"/>
          </a:xfrm>
        </p:spPr>
        <p:txBody>
          <a:bodyPr>
            <a:noAutofit/>
          </a:bodyPr>
          <a:lstStyle/>
          <a:p>
            <a:pPr marL="0" indent="0">
              <a:buNone/>
            </a:pPr>
            <a:r>
              <a:rPr lang="en-US" sz="1800" b="1" cap="none" dirty="0">
                <a:effectLst/>
                <a:latin typeface="Calibri" panose="020F0502020204030204" pitchFamily="34" charset="0"/>
                <a:ea typeface="Calibri" panose="020F0502020204030204" pitchFamily="34" charset="0"/>
                <a:cs typeface="Calibri" panose="020F0502020204030204" pitchFamily="34" charset="0"/>
              </a:rPr>
              <a:t>Likely cause:</a:t>
            </a:r>
          </a:p>
          <a:p>
            <a:r>
              <a:rPr lang="en-NG" sz="1800" cap="none" dirty="0">
                <a:effectLst/>
                <a:latin typeface="Calibri" panose="020F0502020204030204" pitchFamily="34" charset="0"/>
                <a:ea typeface="Calibri" panose="020F0502020204030204" pitchFamily="34" charset="0"/>
                <a:cs typeface="Calibri" panose="020F0502020204030204" pitchFamily="34" charset="0"/>
              </a:rPr>
              <a:t>Compensation and equity gaps:   entry-level positioning (`</a:t>
            </a:r>
            <a:r>
              <a:rPr lang="en-NG" sz="1800" cap="none" dirty="0" err="1">
                <a:effectLst/>
                <a:latin typeface="Calibri" panose="020F0502020204030204" pitchFamily="34" charset="0"/>
                <a:ea typeface="Calibri" panose="020F0502020204030204" pitchFamily="34" charset="0"/>
                <a:cs typeface="Calibri" panose="020F0502020204030204" pitchFamily="34" charset="0"/>
              </a:rPr>
              <a:t>joblevel</a:t>
            </a:r>
            <a:r>
              <a:rPr lang="en-US" sz="1800" cap="none" dirty="0">
                <a:effectLst/>
                <a:latin typeface="Calibri" panose="020F0502020204030204" pitchFamily="34" charset="0"/>
                <a:ea typeface="Calibri" panose="020F0502020204030204" pitchFamily="34" charset="0"/>
                <a:cs typeface="Calibri" panose="020F0502020204030204" pitchFamily="34" charset="0"/>
              </a:rPr>
              <a:t>_</a:t>
            </a:r>
            <a:r>
              <a:rPr lang="en-NG" sz="1800" cap="none" dirty="0">
                <a:effectLst/>
                <a:latin typeface="Calibri" panose="020F0502020204030204" pitchFamily="34" charset="0"/>
                <a:ea typeface="Calibri" panose="020F0502020204030204" pitchFamily="34" charset="0"/>
                <a:cs typeface="Calibri" panose="020F0502020204030204" pitchFamily="34" charset="0"/>
              </a:rPr>
              <a:t>1`), low monthly income brackets (`</a:t>
            </a:r>
            <a:r>
              <a:rPr lang="en-NG" sz="1800" cap="none" dirty="0" err="1">
                <a:effectLst/>
                <a:latin typeface="Calibri" panose="020F0502020204030204" pitchFamily="34" charset="0"/>
                <a:ea typeface="Calibri" panose="020F0502020204030204" pitchFamily="34" charset="0"/>
                <a:cs typeface="Calibri" panose="020F0502020204030204" pitchFamily="34" charset="0"/>
              </a:rPr>
              <a:t>monthlyincome_group_low</a:t>
            </a:r>
            <a:r>
              <a:rPr lang="en-NG" sz="1800" cap="none" dirty="0">
                <a:effectLst/>
                <a:latin typeface="Calibri" panose="020F0502020204030204" pitchFamily="34" charset="0"/>
                <a:ea typeface="Calibri" panose="020F0502020204030204" pitchFamily="34" charset="0"/>
                <a:cs typeface="Calibri" panose="020F0502020204030204" pitchFamily="34" charset="0"/>
              </a:rPr>
              <a:t>`), and a complete lack of equity incentives (`stockoptionlevel_0`) create severe financial vulnerability, leaving employees exposed to external market pull factors.</a:t>
            </a:r>
            <a:r>
              <a:rPr lang="en-US" sz="1800" cap="none" dirty="0">
                <a:effectLst/>
                <a:latin typeface="Calibri" panose="020F0502020204030204" pitchFamily="34" charset="0"/>
                <a:ea typeface="Calibri" panose="020F0502020204030204" pitchFamily="34" charset="0"/>
                <a:cs typeface="Calibri" panose="020F0502020204030204" pitchFamily="34" charset="0"/>
              </a:rPr>
              <a:t> Hence, </a:t>
            </a: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lower compensation brackets (`low` monthly income) combined with 75% of exiting staff holding zero stock options creates a perception of unrewarded labour and limited long-term upside.</a:t>
            </a:r>
            <a:endParaRPr lang="en-US" sz="1800" kern="100" cap="none" dirty="0">
              <a:effectLst/>
              <a:latin typeface="Calibri" panose="020F0502020204030204" pitchFamily="34" charset="0"/>
              <a:ea typeface="Calibri" panose="020F0502020204030204" pitchFamily="34" charset="0"/>
              <a:cs typeface="Calibri" panose="020F0502020204030204" pitchFamily="34" charset="0"/>
            </a:endParaRPr>
          </a:p>
          <a:p>
            <a:endParaRPr lang="en-NG" sz="1800" kern="100" cap="none" dirty="0">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15000"/>
              </a:lnSpc>
              <a:spcAft>
                <a:spcPts val="800"/>
              </a:spcAft>
              <a:buNone/>
            </a:pPr>
            <a:r>
              <a:rPr lang="en-NG" sz="1800" b="1" kern="100" cap="none" dirty="0">
                <a:effectLst/>
                <a:latin typeface="Calibri" panose="020F0502020204030204" pitchFamily="34" charset="0"/>
                <a:ea typeface="Calibri" panose="020F0502020204030204" pitchFamily="34" charset="0"/>
                <a:cs typeface="Calibri" panose="020F0502020204030204" pitchFamily="34" charset="0"/>
              </a:rPr>
              <a:t>Strategic solution:  </a:t>
            </a:r>
          </a:p>
          <a:p>
            <a:pPr>
              <a:lnSpc>
                <a:spcPct val="115000"/>
              </a:lnSpc>
              <a:spcAft>
                <a:spcPts val="800"/>
              </a:spcAft>
            </a:pP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perform an immediate salary banding audit for entry-level and low-income tiers to align base compensation closer to market medians.</a:t>
            </a:r>
          </a:p>
          <a:p>
            <a:pPr>
              <a:lnSpc>
                <a:spcPct val="115000"/>
              </a:lnSpc>
              <a:spcAft>
                <a:spcPts val="800"/>
              </a:spcAft>
            </a:pP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Broaden equity participation (`</a:t>
            </a:r>
            <a:r>
              <a:rPr lang="en-NG" sz="1800" kern="100" cap="none" dirty="0" err="1">
                <a:effectLst/>
                <a:latin typeface="Calibri" panose="020F0502020204030204" pitchFamily="34" charset="0"/>
                <a:ea typeface="Calibri" panose="020F0502020204030204" pitchFamily="34" charset="0"/>
                <a:cs typeface="Calibri" panose="020F0502020204030204" pitchFamily="34" charset="0"/>
              </a:rPr>
              <a:t>stockoptionlevel</a:t>
            </a: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1 or higher) beyond executive ranks to anchor long-term organizational commitment.</a:t>
            </a:r>
          </a:p>
          <a:p>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47178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E93D-2F67-670C-C5A1-A408CFFBDA0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307AF5-1FEB-92FD-5E2C-F30112862BED}"/>
              </a:ext>
            </a:extLst>
          </p:cNvPr>
          <p:cNvSpPr>
            <a:spLocks noGrp="1"/>
          </p:cNvSpPr>
          <p:nvPr>
            <p:ph sz="quarter" idx="13"/>
          </p:nvPr>
        </p:nvSpPr>
        <p:spPr>
          <a:xfrm>
            <a:off x="914087" y="975237"/>
            <a:ext cx="10363826" cy="5356737"/>
          </a:xfrm>
        </p:spPr>
        <p:txBody>
          <a:bodyPr>
            <a:noAutofit/>
          </a:bodyPr>
          <a:lstStyle/>
          <a:p>
            <a:pPr marL="0" indent="0">
              <a:buNone/>
            </a:pPr>
            <a:r>
              <a:rPr lang="en-US" sz="1800" b="1" cap="none" dirty="0">
                <a:effectLst/>
                <a:latin typeface="Calibri" panose="020F0502020204030204" pitchFamily="34" charset="0"/>
                <a:ea typeface="Calibri" panose="020F0502020204030204" pitchFamily="34" charset="0"/>
                <a:cs typeface="Calibri" panose="020F0502020204030204" pitchFamily="34" charset="0"/>
              </a:rPr>
              <a:t>Likely cause:</a:t>
            </a:r>
          </a:p>
          <a:p>
            <a:r>
              <a:rPr lang="en-NG" sz="1800" cap="none" dirty="0">
                <a:effectLst/>
                <a:latin typeface="Calibri" panose="020F0502020204030204" pitchFamily="34" charset="0"/>
                <a:ea typeface="Calibri" panose="020F0502020204030204" pitchFamily="34" charset="0"/>
                <a:cs typeface="Calibri" panose="020F0502020204030204" pitchFamily="34" charset="0"/>
              </a:rPr>
              <a:t>Demographic vulnerability:   single employees and young adults exhibit significantly higher propensity to leave, pointing to a need for targeted career-pathing during early tenure windows</a:t>
            </a:r>
            <a:r>
              <a:rPr lang="en-US" sz="1800" cap="none" dirty="0">
                <a:latin typeface="Calibri" panose="020F0502020204030204" pitchFamily="34" charset="0"/>
                <a:ea typeface="Calibri" panose="020F0502020204030204" pitchFamily="34" charset="0"/>
                <a:cs typeface="Calibri" panose="020F0502020204030204" pitchFamily="34" charset="0"/>
              </a:rPr>
              <a:t>. This therefore makes </a:t>
            </a: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new hires and entry-level staff reach a plateau within 1 to 3 years due to ambiguous progression milestones, prompting them to seek external growth opportunities.</a:t>
            </a:r>
            <a:r>
              <a:rPr lang="en-US" sz="1800" kern="100" cap="none" dirty="0">
                <a:effectLst/>
                <a:latin typeface="Calibri" panose="020F0502020204030204" pitchFamily="34" charset="0"/>
                <a:ea typeface="Calibri" panose="020F0502020204030204" pitchFamily="34" charset="0"/>
                <a:cs typeface="Calibri" panose="020F0502020204030204" pitchFamily="34" charset="0"/>
              </a:rPr>
              <a:t> Also, </a:t>
            </a:r>
            <a:r>
              <a:rPr lang="en-NG" sz="1800" cap="none" dirty="0">
                <a:effectLst/>
                <a:latin typeface="Calibri" panose="020F0502020204030204" pitchFamily="34" charset="0"/>
                <a:ea typeface="Calibri" panose="020F0502020204030204" pitchFamily="34" charset="0"/>
                <a:cs typeface="Calibri" panose="020F0502020204030204" pitchFamily="34" charset="0"/>
              </a:rPr>
              <a:t>specific high-turnover job families</a:t>
            </a:r>
            <a:r>
              <a:rPr lang="en-US" sz="1800" cap="none" dirty="0">
                <a:effectLst/>
                <a:latin typeface="Calibri" panose="020F0502020204030204" pitchFamily="34" charset="0"/>
                <a:ea typeface="Calibri" panose="020F0502020204030204" pitchFamily="34" charset="0"/>
                <a:cs typeface="Calibri" panose="020F0502020204030204" pitchFamily="34" charset="0"/>
              </a:rPr>
              <a:t> like</a:t>
            </a:r>
            <a:r>
              <a:rPr lang="en-NG" sz="1800" cap="none" dirty="0">
                <a:effectLst/>
                <a:latin typeface="Calibri" panose="020F0502020204030204" pitchFamily="34" charset="0"/>
                <a:ea typeface="Calibri" panose="020F0502020204030204" pitchFamily="34" charset="0"/>
                <a:cs typeface="Calibri" panose="020F0502020204030204" pitchFamily="34" charset="0"/>
              </a:rPr>
              <a:t> sales representatives and laboratory technicians</a:t>
            </a:r>
            <a:r>
              <a:rPr lang="en-US" sz="1800" cap="none" dirty="0">
                <a:effectLst/>
                <a:latin typeface="Calibri" panose="020F0502020204030204" pitchFamily="34" charset="0"/>
                <a:ea typeface="Calibri" panose="020F0502020204030204" pitchFamily="34" charset="0"/>
                <a:cs typeface="Calibri" panose="020F0502020204030204" pitchFamily="34" charset="0"/>
              </a:rPr>
              <a:t>, </a:t>
            </a:r>
            <a:r>
              <a:rPr lang="en-NG" sz="1800" cap="none" dirty="0">
                <a:effectLst/>
                <a:latin typeface="Calibri" panose="020F0502020204030204" pitchFamily="34" charset="0"/>
                <a:ea typeface="Calibri" panose="020F0502020204030204" pitchFamily="34" charset="0"/>
                <a:cs typeface="Calibri" panose="020F0502020204030204" pitchFamily="34" charset="0"/>
              </a:rPr>
              <a:t>suffer from promotional bottlenecks within the 1-to-3 year tenure span, driving voluntary resignations.</a:t>
            </a: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a:t>
            </a:r>
          </a:p>
          <a:p>
            <a:pPr marL="0" indent="0">
              <a:lnSpc>
                <a:spcPct val="115000"/>
              </a:lnSpc>
              <a:spcAft>
                <a:spcPts val="800"/>
              </a:spcAft>
              <a:buNone/>
            </a:pPr>
            <a:endParaRPr lang="en-US" sz="1800" kern="100" cap="none" dirty="0">
              <a:latin typeface="Calibri" panose="020F0502020204030204" pitchFamily="34" charset="0"/>
              <a:ea typeface="Calibri" panose="020F0502020204030204" pitchFamily="34" charset="0"/>
              <a:cs typeface="Calibri" panose="020F0502020204030204" pitchFamily="34" charset="0"/>
            </a:endParaRPr>
          </a:p>
          <a:p>
            <a:pPr marL="0" indent="0">
              <a:lnSpc>
                <a:spcPct val="115000"/>
              </a:lnSpc>
              <a:spcAft>
                <a:spcPts val="800"/>
              </a:spcAft>
              <a:buNone/>
            </a:pPr>
            <a:r>
              <a:rPr lang="en-NG" sz="1800" b="1" kern="100" cap="none" dirty="0">
                <a:effectLst/>
                <a:latin typeface="Calibri" panose="020F0502020204030204" pitchFamily="34" charset="0"/>
                <a:ea typeface="Calibri" panose="020F0502020204030204" pitchFamily="34" charset="0"/>
                <a:cs typeface="Calibri" panose="020F0502020204030204" pitchFamily="34" charset="0"/>
              </a:rPr>
              <a:t>Strategic solution:  </a:t>
            </a:r>
          </a:p>
          <a:p>
            <a:pPr>
              <a:lnSpc>
                <a:spcPct val="115000"/>
              </a:lnSpc>
              <a:spcAft>
                <a:spcPts val="800"/>
              </a:spcAft>
            </a:pP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formalize clear 18-month career progression pathways for high-turnover roles like sales representatives and laboratory technicians.</a:t>
            </a:r>
            <a:endParaRPr lang="en-US" sz="1800" kern="100" cap="none" dirty="0">
              <a:effectLst/>
              <a:latin typeface="Calibri" panose="020F0502020204030204" pitchFamily="34" charset="0"/>
              <a:ea typeface="Calibri" panose="020F0502020204030204" pitchFamily="34" charset="0"/>
              <a:cs typeface="Calibri" panose="020F0502020204030204" pitchFamily="34" charset="0"/>
            </a:endParaRPr>
          </a:p>
          <a:p>
            <a:pPr>
              <a:lnSpc>
                <a:spcPct val="115000"/>
              </a:lnSpc>
              <a:spcAft>
                <a:spcPts val="800"/>
              </a:spcAft>
            </a:pPr>
            <a:r>
              <a:rPr lang="en-NG" sz="1800" cap="none" dirty="0">
                <a:effectLst/>
                <a:latin typeface="Calibri" panose="020F0502020204030204" pitchFamily="34" charset="0"/>
                <a:ea typeface="Calibri" panose="020F0502020204030204" pitchFamily="34" charset="0"/>
                <a:cs typeface="Calibri" panose="020F0502020204030204" pitchFamily="34" charset="0"/>
              </a:rPr>
              <a:t> Introduce internal mobility programs and mentorship structures to re-engage employees before they hit the critical exit window.</a:t>
            </a:r>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402684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E00A5-1033-BE72-5ABF-AE4D2F5C568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853AEC-0B09-080F-2CC5-B6E3C3696AAB}"/>
              </a:ext>
            </a:extLst>
          </p:cNvPr>
          <p:cNvSpPr>
            <a:spLocks noGrp="1"/>
          </p:cNvSpPr>
          <p:nvPr>
            <p:ph sz="quarter" idx="13"/>
          </p:nvPr>
        </p:nvSpPr>
        <p:spPr>
          <a:xfrm>
            <a:off x="913774" y="1553498"/>
            <a:ext cx="10363826" cy="3814916"/>
          </a:xfrm>
        </p:spPr>
        <p:txBody>
          <a:bodyPr>
            <a:normAutofit/>
          </a:bodyPr>
          <a:lstStyle/>
          <a:p>
            <a:pPr marL="0" indent="0">
              <a:buNone/>
            </a:pPr>
            <a:r>
              <a:rPr lang="en-US" sz="1800" b="1" cap="none" dirty="0">
                <a:effectLst/>
                <a:latin typeface="Calibri" panose="020F0502020204030204" pitchFamily="34" charset="0"/>
                <a:ea typeface="Calibri" panose="020F0502020204030204" pitchFamily="34" charset="0"/>
                <a:cs typeface="Calibri" panose="020F0502020204030204" pitchFamily="34" charset="0"/>
              </a:rPr>
              <a:t>Likely cause</a:t>
            </a:r>
          </a:p>
          <a:p>
            <a:pPr>
              <a:lnSpc>
                <a:spcPct val="115000"/>
              </a:lnSpc>
              <a:spcAft>
                <a:spcPts val="800"/>
              </a:spcAft>
            </a:pP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Employees residing at greater distances from the office face commuting fatigue that compounds daily stress and lowers retention.</a:t>
            </a:r>
            <a:endParaRPr lang="en-US" sz="1800" kern="100" cap="none" dirty="0">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15000"/>
              </a:lnSpc>
              <a:spcAft>
                <a:spcPts val="800"/>
              </a:spcAft>
              <a:buNone/>
            </a:pPr>
            <a:endParaRPr lang="en-US" sz="1800" kern="100" cap="none" dirty="0">
              <a:latin typeface="Calibri" panose="020F0502020204030204" pitchFamily="34" charset="0"/>
              <a:ea typeface="Calibri" panose="020F0502020204030204" pitchFamily="34" charset="0"/>
              <a:cs typeface="Calibri" panose="020F0502020204030204" pitchFamily="34" charset="0"/>
            </a:endParaRPr>
          </a:p>
          <a:p>
            <a:pPr marL="0" indent="0">
              <a:lnSpc>
                <a:spcPct val="115000"/>
              </a:lnSpc>
              <a:spcAft>
                <a:spcPts val="800"/>
              </a:spcAft>
              <a:buNone/>
            </a:pPr>
            <a:r>
              <a:rPr lang="en-NG" sz="1800" b="1" kern="100" cap="none" dirty="0">
                <a:effectLst/>
                <a:latin typeface="Calibri" panose="020F0502020204030204" pitchFamily="34" charset="0"/>
                <a:ea typeface="Calibri" panose="020F0502020204030204" pitchFamily="34" charset="0"/>
                <a:cs typeface="Calibri" panose="020F0502020204030204" pitchFamily="34" charset="0"/>
              </a:rPr>
              <a:t>Strategic solution:  </a:t>
            </a:r>
          </a:p>
          <a:p>
            <a:pPr>
              <a:lnSpc>
                <a:spcPct val="115000"/>
              </a:lnSpc>
              <a:spcAft>
                <a:spcPts val="800"/>
              </a:spcAft>
            </a:pP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a:t>
            </a:r>
            <a:r>
              <a:rPr lang="en-US" sz="1800" cap="none" dirty="0">
                <a:latin typeface="Calibri" panose="020F0502020204030204" pitchFamily="34" charset="0"/>
                <a:ea typeface="Calibri" panose="020F0502020204030204" pitchFamily="34" charset="0"/>
                <a:cs typeface="Calibri" panose="020F0502020204030204" pitchFamily="34" charset="0"/>
              </a:rPr>
              <a:t>given that employees facing longer commutes exhibit higher exit tendencies, introduce hybrid work arrangements or transportation stipends to ease distance-related friction.</a:t>
            </a:r>
            <a:endParaRPr lang="en-NG" sz="18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339493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9E1A29-0893-EE13-F889-0808D373840B}"/>
              </a:ext>
            </a:extLst>
          </p:cNvPr>
          <p:cNvSpPr txBox="1">
            <a:spLocks/>
          </p:cNvSpPr>
          <p:nvPr/>
        </p:nvSpPr>
        <p:spPr>
          <a:xfrm>
            <a:off x="1150374" y="3429000"/>
            <a:ext cx="3205316" cy="7742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3200" b="1" cap="none"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Conclusion</a:t>
            </a:r>
            <a:endParaRPr lang="en-NG" sz="32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984792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D7F11A-91C1-F7F2-8E88-96F1F27B9C6C}"/>
              </a:ext>
            </a:extLst>
          </p:cNvPr>
          <p:cNvSpPr>
            <a:spLocks noGrp="1"/>
          </p:cNvSpPr>
          <p:nvPr>
            <p:ph sz="quarter" idx="13"/>
          </p:nvPr>
        </p:nvSpPr>
        <p:spPr>
          <a:xfrm>
            <a:off x="1042220" y="1456403"/>
            <a:ext cx="10432026" cy="3945194"/>
          </a:xfrm>
        </p:spPr>
        <p:txBody>
          <a:bodyPr>
            <a:noAutofit/>
          </a:bodyPr>
          <a:lstStyle/>
          <a:p>
            <a:pPr marL="0" indent="0">
              <a:lnSpc>
                <a:spcPct val="115000"/>
              </a:lnSpc>
              <a:spcAft>
                <a:spcPts val="800"/>
              </a:spcAft>
              <a:buNone/>
            </a:pPr>
            <a:r>
              <a:rPr lang="en-NG" sz="1800" b="1" kern="100" cap="none" dirty="0">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Immediate Relief</a:t>
            </a:r>
            <a:r>
              <a:rPr lang="en-US" sz="1800" b="1" kern="100" cap="none"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NG" sz="1800" b="1" kern="100" cap="none" dirty="0">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Interventions (0–3 Months)</a:t>
            </a:r>
            <a:r>
              <a:rPr lang="en-US" sz="1800" b="1" kern="100" cap="none" dirty="0">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 </a:t>
            </a:r>
            <a:r>
              <a:rPr lang="en-NG" sz="1800" b="1" kern="100" cap="none" dirty="0">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Operational</a:t>
            </a:r>
            <a:r>
              <a:rPr lang="en-US" sz="1800" b="1" kern="100" cap="none" dirty="0">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Relief Plan</a:t>
            </a:r>
          </a:p>
          <a:p>
            <a:pPr marL="0" indent="0">
              <a:lnSpc>
                <a:spcPct val="115000"/>
              </a:lnSpc>
              <a:spcAft>
                <a:spcPts val="800"/>
              </a:spcAft>
              <a:buNone/>
            </a:pPr>
            <a:endParaRPr lang="en-NG" sz="1800" b="1" kern="100" dirty="0">
              <a:solidFill>
                <a:schemeClr val="accent1">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spcAft>
                <a:spcPts val="800"/>
              </a:spcAft>
              <a:buFont typeface="Arial" panose="020B0604020202020204" pitchFamily="34" charset="0"/>
              <a:buChar char="•"/>
              <a:tabLst>
                <a:tab pos="457200" algn="l"/>
              </a:tabLst>
            </a:pPr>
            <a:r>
              <a:rPr lang="en-NG" sz="1800" b="1" kern="100" cap="none" dirty="0">
                <a:effectLst/>
                <a:latin typeface="Aptos" panose="020B0004020202020204" pitchFamily="34" charset="0"/>
                <a:ea typeface="Aptos" panose="020B0004020202020204" pitchFamily="34" charset="0"/>
                <a:cs typeface="Times New Roman" panose="02020603050405020304" pitchFamily="18" charset="0"/>
              </a:rPr>
              <a:t>Overtime audit and workload balancing</a:t>
            </a:r>
            <a:r>
              <a:rPr lang="en-US" sz="1800" kern="100" cap="none" dirty="0">
                <a:effectLst/>
                <a:latin typeface="Aptos" panose="020B0004020202020204" pitchFamily="34" charset="0"/>
                <a:ea typeface="Aptos" panose="020B0004020202020204" pitchFamily="34" charset="0"/>
                <a:cs typeface="Times New Roman" panose="02020603050405020304" pitchFamily="18" charset="0"/>
              </a:rPr>
              <a:t>:</a:t>
            </a:r>
            <a:r>
              <a:rPr lang="en-NG" sz="1800" kern="100" cap="none" dirty="0">
                <a:effectLst/>
                <a:latin typeface="Aptos" panose="020B0004020202020204" pitchFamily="34" charset="0"/>
                <a:ea typeface="Aptos" panose="020B0004020202020204" pitchFamily="34" charset="0"/>
                <a:cs typeface="Times New Roman" panose="02020603050405020304" pitchFamily="18" charset="0"/>
              </a:rPr>
              <a:t> implement an immediate review of departments heavily reliant on overtime (specifically within sales and research and development). Establish caps on consecutive weeks of mandatory overtime to mitigate burnout risk.</a:t>
            </a:r>
          </a:p>
          <a:p>
            <a:pPr marL="342900" lvl="0" indent="-342900">
              <a:lnSpc>
                <a:spcPct val="115000"/>
              </a:lnSpc>
              <a:spcAft>
                <a:spcPts val="800"/>
              </a:spcAft>
              <a:buFont typeface="Arial" panose="020B0604020202020204" pitchFamily="34" charset="0"/>
              <a:buChar char="•"/>
              <a:tabLst>
                <a:tab pos="457200" algn="l"/>
              </a:tabLst>
            </a:pPr>
            <a:r>
              <a:rPr lang="en-NG" sz="1800" b="1" kern="100" cap="none" dirty="0">
                <a:effectLst/>
                <a:latin typeface="Aptos" panose="020B0004020202020204" pitchFamily="34" charset="0"/>
                <a:ea typeface="Aptos" panose="020B0004020202020204" pitchFamily="34" charset="0"/>
                <a:cs typeface="Times New Roman" panose="02020603050405020304" pitchFamily="18" charset="0"/>
              </a:rPr>
              <a:t>Targeted retention for high-risk profiles</a:t>
            </a:r>
            <a:r>
              <a:rPr lang="en-NG" sz="1800" kern="100" cap="none" dirty="0">
                <a:effectLst/>
                <a:latin typeface="Aptos" panose="020B0004020202020204" pitchFamily="34" charset="0"/>
                <a:ea typeface="Aptos" panose="020B0004020202020204" pitchFamily="34" charset="0"/>
                <a:cs typeface="Times New Roman" panose="02020603050405020304" pitchFamily="18" charset="0"/>
              </a:rPr>
              <a:t>: deploy pulse surveys and managerial check-ins for employees exhibiting top-tier risk markers: single employees, young adults in entry-level tiers (joblevel_1), and those with zero stock option allocations.</a:t>
            </a:r>
          </a:p>
        </p:txBody>
      </p:sp>
    </p:spTree>
    <p:extLst>
      <p:ext uri="{BB962C8B-B14F-4D97-AF65-F5344CB8AC3E}">
        <p14:creationId xmlns:p14="http://schemas.microsoft.com/office/powerpoint/2010/main" val="2967453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E393C-29D5-241A-BCDF-315E20F3F0A9}"/>
              </a:ext>
            </a:extLst>
          </p:cNvPr>
          <p:cNvSpPr>
            <a:spLocks noGrp="1"/>
          </p:cNvSpPr>
          <p:nvPr>
            <p:ph sz="quarter" idx="13"/>
          </p:nvPr>
        </p:nvSpPr>
        <p:spPr>
          <a:xfrm>
            <a:off x="913774" y="1484672"/>
            <a:ext cx="10363826" cy="4306528"/>
          </a:xfrm>
        </p:spPr>
        <p:txBody>
          <a:bodyPr>
            <a:normAutofit lnSpcReduction="10000"/>
          </a:bodyPr>
          <a:lstStyle/>
          <a:p>
            <a:pPr marL="0" indent="0">
              <a:lnSpc>
                <a:spcPct val="115000"/>
              </a:lnSpc>
              <a:spcAft>
                <a:spcPts val="800"/>
              </a:spcAft>
              <a:buNone/>
            </a:pPr>
            <a:r>
              <a:rPr lang="en-NG" sz="1800" b="1" kern="100" cap="none" dirty="0">
                <a:solidFill>
                  <a:schemeClr val="accent1">
                    <a:lumMod val="50000"/>
                  </a:schemeClr>
                </a:solidFill>
                <a:effectLst/>
                <a:latin typeface="Aptos" panose="020B0004020202020204" pitchFamily="34" charset="0"/>
                <a:ea typeface="Aptos" panose="020B0004020202020204" pitchFamily="34" charset="0"/>
                <a:cs typeface="Times New Roman" panose="02020603050405020304" pitchFamily="18" charset="0"/>
              </a:rPr>
              <a:t>Mid-term Structural Strategies (3–6 Months)</a:t>
            </a:r>
            <a:r>
              <a:rPr lang="en-US" sz="1800" b="1" kern="100" cap="none" dirty="0">
                <a:solidFill>
                  <a:schemeClr val="accent1">
                    <a:lumMod val="50000"/>
                  </a:schemeClr>
                </a:solidFill>
                <a:effectLst/>
                <a:latin typeface="Aptos" panose="020B0004020202020204" pitchFamily="34" charset="0"/>
                <a:ea typeface="Aptos" panose="020B0004020202020204" pitchFamily="34" charset="0"/>
                <a:cs typeface="Times New Roman" panose="02020603050405020304" pitchFamily="18" charset="0"/>
              </a:rPr>
              <a:t> : </a:t>
            </a:r>
            <a:r>
              <a:rPr lang="en-NG" sz="1800" b="1" kern="100" cap="none" dirty="0">
                <a:solidFill>
                  <a:schemeClr val="accent1">
                    <a:lumMod val="50000"/>
                  </a:schemeClr>
                </a:solidFill>
                <a:effectLst/>
                <a:latin typeface="Aptos" panose="020B0004020202020204" pitchFamily="34" charset="0"/>
                <a:ea typeface="Aptos" panose="020B0004020202020204" pitchFamily="34" charset="0"/>
                <a:cs typeface="Times New Roman" panose="02020603050405020304" pitchFamily="18" charset="0"/>
              </a:rPr>
              <a:t>Compensation And Growth</a:t>
            </a:r>
            <a:r>
              <a:rPr lang="en-US" sz="1800" b="1" kern="100" cap="none" dirty="0">
                <a:solidFill>
                  <a:schemeClr val="accent1">
                    <a:lumMod val="50000"/>
                  </a:schemeClr>
                </a:solidFill>
                <a:latin typeface="Aptos" panose="020B0004020202020204" pitchFamily="34" charset="0"/>
                <a:ea typeface="Aptos" panose="020B0004020202020204" pitchFamily="34" charset="0"/>
                <a:cs typeface="Times New Roman" panose="02020603050405020304" pitchFamily="18" charset="0"/>
              </a:rPr>
              <a:t> Plan</a:t>
            </a:r>
            <a:endParaRPr lang="en-NG" sz="1800" b="1" kern="100" cap="none" dirty="0">
              <a:solidFill>
                <a:schemeClr val="accent1">
                  <a:lumMod val="50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endParaRPr lang="en-US"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G" sz="1800" b="1" kern="100" cap="none" dirty="0">
                <a:effectLst/>
                <a:latin typeface="Aptos" panose="020B0004020202020204" pitchFamily="34" charset="0"/>
                <a:ea typeface="Aptos" panose="020B0004020202020204" pitchFamily="34" charset="0"/>
                <a:cs typeface="Times New Roman" panose="02020603050405020304" pitchFamily="18" charset="0"/>
              </a:rPr>
              <a:t>Compensation benchmarking for low earners</a:t>
            </a:r>
            <a:r>
              <a:rPr lang="en-NG" sz="1800" kern="100" cap="none" dirty="0">
                <a:effectLst/>
                <a:latin typeface="Aptos" panose="020B0004020202020204" pitchFamily="34" charset="0"/>
                <a:ea typeface="Aptos" panose="020B0004020202020204" pitchFamily="34" charset="0"/>
                <a:cs typeface="Times New Roman" panose="02020603050405020304" pitchFamily="18" charset="0"/>
              </a:rPr>
              <a:t>: review base pay structures for the low monthly income bracket to align closer with market medians, directly addressing the 21.8% attrition rate observed in this segment.</a:t>
            </a:r>
          </a:p>
          <a:p>
            <a:pPr marL="342900" lvl="0" indent="-342900">
              <a:lnSpc>
                <a:spcPct val="115000"/>
              </a:lnSpc>
              <a:spcAft>
                <a:spcPts val="800"/>
              </a:spcAft>
              <a:buFont typeface="Times New Roman" panose="02020603050405020304" pitchFamily="18" charset="0"/>
              <a:buChar char="•"/>
              <a:tabLst>
                <a:tab pos="457200" algn="l"/>
              </a:tabLst>
            </a:pPr>
            <a:r>
              <a:rPr lang="en-NG" sz="1800" b="1" kern="100" cap="none" dirty="0">
                <a:effectLst/>
                <a:latin typeface="Aptos" panose="020B0004020202020204" pitchFamily="34" charset="0"/>
                <a:ea typeface="Aptos" panose="020B0004020202020204" pitchFamily="34" charset="0"/>
                <a:cs typeface="Times New Roman" panose="02020603050405020304" pitchFamily="18" charset="0"/>
              </a:rPr>
              <a:t>Stock option expansion</a:t>
            </a:r>
            <a:r>
              <a:rPr lang="en-NG" sz="1800" kern="100" cap="none" dirty="0">
                <a:effectLst/>
                <a:latin typeface="Aptos" panose="020B0004020202020204" pitchFamily="34" charset="0"/>
                <a:ea typeface="Aptos" panose="020B0004020202020204" pitchFamily="34" charset="0"/>
                <a:cs typeface="Times New Roman" panose="02020603050405020304" pitchFamily="18" charset="0"/>
              </a:rPr>
              <a:t>: broaden equity eligibility beyond executive tiers. Providing baseline stock options (</a:t>
            </a:r>
            <a:r>
              <a:rPr lang="en-NG" sz="1800" kern="100" cap="none" dirty="0" err="1">
                <a:effectLst/>
                <a:latin typeface="Aptos" panose="020B0004020202020204" pitchFamily="34" charset="0"/>
                <a:ea typeface="Aptos" panose="020B0004020202020204" pitchFamily="34" charset="0"/>
                <a:cs typeface="Times New Roman" panose="02020603050405020304" pitchFamily="18" charset="0"/>
              </a:rPr>
              <a:t>stockoptionlevel</a:t>
            </a:r>
            <a:r>
              <a:rPr lang="en-NG" sz="1800" kern="100" cap="none" dirty="0">
                <a:effectLst/>
                <a:latin typeface="Aptos" panose="020B0004020202020204" pitchFamily="34" charset="0"/>
                <a:ea typeface="Aptos" panose="020B0004020202020204" pitchFamily="34" charset="0"/>
                <a:cs typeface="Times New Roman" panose="02020603050405020304" pitchFamily="18" charset="0"/>
              </a:rPr>
              <a:t> 1 or higher) anchors long-term commitment, given that 75% of exiting staff historically held zero stock options.</a:t>
            </a:r>
          </a:p>
          <a:p>
            <a:pPr marL="342900" lvl="0" indent="-342900">
              <a:lnSpc>
                <a:spcPct val="115000"/>
              </a:lnSpc>
              <a:spcAft>
                <a:spcPts val="800"/>
              </a:spcAft>
              <a:buFont typeface="Times New Roman" panose="02020603050405020304" pitchFamily="18" charset="0"/>
              <a:buChar char="•"/>
              <a:tabLst>
                <a:tab pos="457200" algn="l"/>
              </a:tabLst>
            </a:pPr>
            <a:r>
              <a:rPr lang="en-NG" sz="1800" b="1" kern="100" cap="none" dirty="0">
                <a:effectLst/>
                <a:latin typeface="Aptos" panose="020B0004020202020204" pitchFamily="34" charset="0"/>
                <a:ea typeface="Aptos" panose="020B0004020202020204" pitchFamily="34" charset="0"/>
                <a:cs typeface="Times New Roman" panose="02020603050405020304" pitchFamily="18" charset="0"/>
              </a:rPr>
              <a:t>Clear promotion pathways</a:t>
            </a:r>
            <a:r>
              <a:rPr lang="en-NG" sz="1800" kern="100" cap="none" dirty="0">
                <a:effectLst/>
                <a:latin typeface="Aptos" panose="020B0004020202020204" pitchFamily="34" charset="0"/>
                <a:ea typeface="Aptos" panose="020B0004020202020204" pitchFamily="34" charset="0"/>
                <a:cs typeface="Times New Roman" panose="02020603050405020304" pitchFamily="18" charset="0"/>
              </a:rPr>
              <a:t>: for high-turnover roles like sales representatives and laboratory technicians, formalize clear milestones for career progression to prevent stagnation in the 1-to-3-year tenure window.</a:t>
            </a:r>
          </a:p>
          <a:p>
            <a:endParaRPr lang="en-NG" dirty="0"/>
          </a:p>
        </p:txBody>
      </p:sp>
    </p:spTree>
    <p:extLst>
      <p:ext uri="{BB962C8B-B14F-4D97-AF65-F5344CB8AC3E}">
        <p14:creationId xmlns:p14="http://schemas.microsoft.com/office/powerpoint/2010/main" val="26885856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4361F0-5CD9-3185-7E4E-907B29670FC5}"/>
              </a:ext>
            </a:extLst>
          </p:cNvPr>
          <p:cNvSpPr>
            <a:spLocks noGrp="1"/>
          </p:cNvSpPr>
          <p:nvPr>
            <p:ph sz="quarter" idx="13"/>
          </p:nvPr>
        </p:nvSpPr>
        <p:spPr>
          <a:xfrm>
            <a:off x="913774" y="1170040"/>
            <a:ext cx="10363826" cy="4621160"/>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G" altLang="en-NG" sz="1800" b="1"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Long-term Policy Adjustments (6–12 Months): Workplace Flexibility</a:t>
            </a:r>
            <a:endParaRPr kumimoji="0" lang="en-US" altLang="en-NG" sz="1800" b="1"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NG"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NG" sz="1800" b="1" cap="none"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NG" altLang="en-NG"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spcAft>
                <a:spcPts val="800"/>
              </a:spcAft>
              <a:buFont typeface="Arial" panose="020B0604020202020204" pitchFamily="34" charset="0"/>
              <a:buChar char="•"/>
              <a:tabLst>
                <a:tab pos="457200" algn="l"/>
              </a:tabLst>
            </a:pPr>
            <a:r>
              <a:rPr lang="en-NG" sz="1800" b="1" kern="100" cap="none" dirty="0">
                <a:effectLst/>
                <a:latin typeface="Calibri" panose="020F0502020204030204" pitchFamily="34" charset="0"/>
                <a:ea typeface="Calibri" panose="020F0502020204030204" pitchFamily="34" charset="0"/>
                <a:cs typeface="Calibri" panose="020F0502020204030204" pitchFamily="34" charset="0"/>
              </a:rPr>
              <a:t>Flexible commute and hybrid policies</a:t>
            </a: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given that employees facing longer commutes exhibit higher exit tendencies, introduce hybrid work arrangements or transportation stipends to ease distance-related friction.</a:t>
            </a:r>
          </a:p>
          <a:p>
            <a:pPr marL="342900" lvl="0" indent="-342900">
              <a:lnSpc>
                <a:spcPct val="115000"/>
              </a:lnSpc>
              <a:spcAft>
                <a:spcPts val="800"/>
              </a:spcAft>
              <a:buFont typeface="Arial" panose="020B0604020202020204" pitchFamily="34" charset="0"/>
              <a:buChar char="•"/>
              <a:tabLst>
                <a:tab pos="457200" algn="l"/>
              </a:tabLst>
            </a:pPr>
            <a:r>
              <a:rPr lang="en-NG" sz="1800" b="1" kern="100" cap="none" dirty="0">
                <a:effectLst/>
                <a:latin typeface="Calibri" panose="020F0502020204030204" pitchFamily="34" charset="0"/>
                <a:ea typeface="Calibri" panose="020F0502020204030204" pitchFamily="34" charset="0"/>
                <a:cs typeface="Calibri" panose="020F0502020204030204" pitchFamily="34" charset="0"/>
              </a:rPr>
              <a:t>Predictive retention modelling</a:t>
            </a: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leverage the cleansed, feature-engineered dataset established in this project to build a phase 5 machine learning classification model, enabling hr to score active employees for flight risk </a:t>
            </a:r>
            <a:r>
              <a:rPr lang="en-NG" sz="1800" i="1" kern="100" cap="none" dirty="0">
                <a:effectLst/>
                <a:latin typeface="Calibri" panose="020F0502020204030204" pitchFamily="34" charset="0"/>
                <a:ea typeface="Calibri" panose="020F0502020204030204" pitchFamily="34" charset="0"/>
                <a:cs typeface="Calibri" panose="020F0502020204030204" pitchFamily="34" charset="0"/>
              </a:rPr>
              <a:t>before</a:t>
            </a:r>
            <a:r>
              <a:rPr lang="en-NG" sz="1800" kern="100" cap="none" dirty="0">
                <a:effectLst/>
                <a:latin typeface="Calibri" panose="020F0502020204030204" pitchFamily="34" charset="0"/>
                <a:ea typeface="Calibri" panose="020F0502020204030204" pitchFamily="34" charset="0"/>
                <a:cs typeface="Calibri" panose="020F0502020204030204" pitchFamily="34" charset="0"/>
              </a:rPr>
              <a:t> resignation occurs.</a:t>
            </a:r>
          </a:p>
        </p:txBody>
      </p:sp>
    </p:spTree>
    <p:extLst>
      <p:ext uri="{BB962C8B-B14F-4D97-AF65-F5344CB8AC3E}">
        <p14:creationId xmlns:p14="http://schemas.microsoft.com/office/powerpoint/2010/main" val="821555767"/>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{F762177C-21B1-4BC3-9847-D697AB9E9C60}TF62d0d592-7ac2-4846-a919-75806e8bead47c13978d-7a72a11451b2</Template>
  <TotalTime>1696</TotalTime>
  <Words>2990</Words>
  <Application>Microsoft Office PowerPoint</Application>
  <PresentationFormat>Widescreen</PresentationFormat>
  <Paragraphs>233</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Aptos</vt:lpstr>
      <vt:lpstr>Arial</vt:lpstr>
      <vt:lpstr>Calibri</vt:lpstr>
      <vt:lpstr>Times New Roman</vt:lpstr>
      <vt:lpstr>Tw Cen MT</vt:lpstr>
      <vt:lpstr>Droplet</vt:lpstr>
      <vt:lpstr>PowerPoint Presentation</vt:lpstr>
      <vt:lpstr>PowerPoint Presentation</vt:lpstr>
      <vt:lpstr>Project Objectives</vt:lpstr>
      <vt:lpstr>Scope and Analytical Approach</vt:lpstr>
      <vt:lpstr>Strategic Value and Impact</vt:lpstr>
      <vt:lpstr>PowerPoint Presentation</vt:lpstr>
      <vt:lpstr>PowerPoint Presentation</vt:lpstr>
      <vt:lpstr>Target Variable</vt:lpstr>
      <vt:lpstr>Initial Data Intuition</vt:lpstr>
      <vt:lpstr>PowerPoint Presentation</vt:lpstr>
      <vt:lpstr>Univariate Analysis</vt:lpstr>
      <vt:lpstr>PowerPoint Presentation</vt:lpstr>
      <vt:lpstr>PowerPoint Presentation</vt:lpstr>
      <vt:lpstr>PowerPoint Presentation</vt:lpstr>
      <vt:lpstr>PowerPoint Presentation</vt:lpstr>
      <vt:lpstr>Bivariate Analysis</vt:lpstr>
      <vt:lpstr>Rate of Attrition Distribution</vt:lpstr>
      <vt:lpstr>Rate of Attrition Distribution</vt:lpstr>
      <vt:lpstr>Rate of Attrition Distribution</vt:lpstr>
      <vt:lpstr>Rate of Attrition Distribution</vt:lpstr>
      <vt:lpstr>Rate of Attrition Distribution</vt:lpstr>
      <vt:lpstr>Rate of Attrition Distribution</vt:lpstr>
      <vt:lpstr>Rate of Attrition Distribution</vt:lpstr>
      <vt:lpstr>Numeric and Bivariate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Collins Nweze</dc:creator>
  <cp:lastModifiedBy>Collins Nweze</cp:lastModifiedBy>
  <cp:revision>8</cp:revision>
  <dcterms:created xsi:type="dcterms:W3CDTF">2026-10-15T11:45:57Z</dcterms:created>
  <dcterms:modified xsi:type="dcterms:W3CDTF">2026-10-16T16:02:46Z</dcterms:modified>
</cp:coreProperties>
</file>